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97"/>
    <p:restoredTop sz="94610"/>
  </p:normalViewPr>
  <p:slideViewPr>
    <p:cSldViewPr snapToGrid="0" snapToObjects="1">
      <p:cViewPr varScale="1">
        <p:scale>
          <a:sx n="165" d="100"/>
          <a:sy n="165" d="100"/>
        </p:scale>
        <p:origin x="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6888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F760D-A980-F020-33EF-8D543BCC7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235ED-C7E7-94D0-1C19-43EB730E6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B71E4-85D5-1801-28B9-7E0A0E958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0D1E7-8FDD-26B5-A0A1-915DED8E6E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30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F3B90-2A1B-2D1C-AA2A-091CC0EF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D5FEF7-371B-2C4B-E383-FC5661F3F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397F3-43E4-1242-7D20-6E83DAC98D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04AA5-2579-BBF4-DA68-BC228AD5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10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mnt/user-data/outputs/saftimize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" y="425196"/>
            <a:ext cx="329184" cy="2944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60120" y="444607"/>
            <a:ext cx="1371600" cy="25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/pitch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20040" y="1051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645E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Engineering HS26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645E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Initial pitch, Timo Schlumpf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See your usage.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Spot the spikes.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Shift the load.</a:t>
            </a:r>
            <a:endParaRPr lang="en-US" sz="2000" dirty="0"/>
          </a:p>
        </p:txBody>
      </p:sp>
      <p:pic>
        <p:nvPicPr>
          <p:cNvPr id="7" name="Image 1" descr="/home/claude/pa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82880"/>
            <a:ext cx="6217920" cy="4754880"/>
          </a:xfrm>
          <a:prstGeom prst="rect">
            <a:avLst/>
          </a:prstGeom>
        </p:spPr>
      </p:pic>
      <p:pic>
        <p:nvPicPr>
          <p:cNvPr id="8" name="Image 2" descr="/mnt/user-data/outputs/saftimize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691640"/>
            <a:ext cx="822960" cy="73700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743200" y="2606040"/>
            <a:ext cx="621792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E9E0D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saftimize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2743200" y="33375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BFB8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optimize your power usage</a:t>
            </a: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E3719-A187-A67A-91C9-4390E212AD74}"/>
              </a:ext>
            </a:extLst>
          </p:cNvPr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9D51D408-F236-C866-F3B1-C54CACF83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63778"/>
            <a:ext cx="535403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/world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25603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96D9A7"/>
                </a:solidFill>
                <a:latin typeface="General Sans"/>
              </a:rPr>
              <a:t>THE COMMON DENOMINATOR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841248"/>
            <a:ext cx="53035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0" dirty="0">
                <a:solidFill>
                  <a:srgbClr val="F4EFEA"/>
                </a:solidFill>
                <a:latin typeface="Instrument Serif"/>
              </a:rPr>
              <a:t>Everything runs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261872"/>
            <a:ext cx="5303520" cy="777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5200" b="0" dirty="0">
                <a:solidFill>
                  <a:srgbClr val="96D9A7"/>
                </a:solidFill>
                <a:latin typeface="Instrument Serif"/>
              </a:rPr>
              <a:t>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148840"/>
            <a:ext cx="521208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4EFEA"/>
                </a:solidFill>
                <a:latin typeface="General Sans"/>
              </a:rPr>
              <a:t>Homes, trains, factories, servers.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2788920"/>
            <a:ext cx="2331720" cy="68580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9272" y="3027444"/>
            <a:ext cx="129844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96D9A7"/>
                </a:solidFill>
                <a:latin typeface="General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2999788"/>
            <a:ext cx="575479" cy="20005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General Sans"/>
              </a:rPr>
              <a:t>Homes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2788920"/>
            <a:ext cx="2331720" cy="68580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62472" y="3027444"/>
            <a:ext cx="153888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96D9A7"/>
                </a:solidFill>
                <a:latin typeface="General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999788"/>
            <a:ext cx="822341" cy="20005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General Sans"/>
              </a:rPr>
              <a:t>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4680" y="3730752"/>
            <a:ext cx="2331720" cy="68580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19272" y="3969276"/>
            <a:ext cx="153888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96D9A7"/>
                </a:solidFill>
                <a:latin typeface="General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3941620"/>
            <a:ext cx="695703" cy="20005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General Sans"/>
              </a:rPr>
              <a:t>Industry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730752"/>
            <a:ext cx="2331720" cy="68580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62472" y="3969276"/>
            <a:ext cx="158698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96D9A7"/>
                </a:solidFill>
                <a:latin typeface="General Sa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941620"/>
            <a:ext cx="639599" cy="20005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A2A2A"/>
                </a:solidFill>
                <a:latin typeface="General Sans"/>
              </a:rPr>
              <a:t>Servers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4498848"/>
            <a:ext cx="539496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D6864"/>
                </a:solidFill>
                <a:latin typeface="General Sans"/>
              </a:rPr>
              <a:t>Take the power away and modern life stops.</a:t>
            </a: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37138182-527D-0CB2-446F-4CF69EE61961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The Reason.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63778"/>
            <a:ext cx="500137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/habit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1828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6D6864"/>
                </a:solidFill>
                <a:latin typeface="General Sans"/>
              </a:rPr>
              <a:t>THE BLIND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868680"/>
            <a:ext cx="21945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200" b="0" dirty="0">
                <a:solidFill>
                  <a:srgbClr val="2A2A2A"/>
                </a:solidFill>
                <a:latin typeface="Instrument Serif"/>
              </a:rPr>
              <a:t>One bill.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353312"/>
            <a:ext cx="21945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D6864"/>
                </a:solidFill>
                <a:latin typeface="General Sans"/>
              </a:rPr>
              <a:t>per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822960"/>
            <a:ext cx="27432" cy="1965960"/>
          </a:xfrm>
          <a:prstGeom prst="rect">
            <a:avLst/>
          </a:prstGeom>
          <a:solidFill>
            <a:srgbClr val="6D6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06440" y="502920"/>
            <a:ext cx="237744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A2A2A"/>
                </a:solidFill>
                <a:latin typeface="General Sans"/>
              </a:rPr>
              <a:t>WHAT ACTUALLY HAPPENS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868680"/>
            <a:ext cx="26517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2A2A2A"/>
                </a:solidFill>
                <a:latin typeface="Instrument Serif"/>
              </a:rPr>
              <a:t>Market prices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371600"/>
            <a:ext cx="265176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96D9A7"/>
                </a:solidFill>
                <a:latin typeface="Instrument Serif"/>
              </a:rPr>
              <a:t>move hour by hour.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127247"/>
            <a:ext cx="5394960" cy="1072794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1548" y="3346704"/>
            <a:ext cx="8229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dirty="0">
                <a:solidFill>
                  <a:srgbClr val="96D9A7"/>
                </a:solidFill>
                <a:latin typeface="General Sans"/>
              </a:rPr>
              <a:t>CHEAP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337560"/>
            <a:ext cx="8229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900" b="1">
                <a:solidFill>
                  <a:srgbClr val="F4EFEA"/>
                </a:solidFill>
                <a:latin typeface="General Sans"/>
              </a:rPr>
              <a:t>EXPENSIVE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315968"/>
            <a:ext cx="53949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D6864"/>
                </a:solidFill>
                <a:latin typeface="General Sans"/>
              </a:rPr>
              <a:t>Cheap and expensive hours differ within a single day. Most of us never look.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3840480"/>
            <a:ext cx="4983480" cy="13716"/>
          </a:xfrm>
          <a:prstGeom prst="rect">
            <a:avLst/>
          </a:prstGeom>
          <a:solidFill>
            <a:srgbClr val="6D6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3383280" y="3383280"/>
            <a:ext cx="1691640" cy="365759"/>
          </a:xfrm>
          <a:prstGeom prst="line">
            <a:avLst/>
          </a:prstGeom>
          <a:ln w="38100">
            <a:solidFill>
              <a:srgbClr val="96D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74920" y="3310128"/>
            <a:ext cx="1645920" cy="73152"/>
          </a:xfrm>
          <a:prstGeom prst="line">
            <a:avLst/>
          </a:prstGeom>
          <a:ln w="38100">
            <a:solidFill>
              <a:srgbClr val="96D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20840" y="3310128"/>
            <a:ext cx="1508760" cy="393192"/>
          </a:xfrm>
          <a:prstGeom prst="line">
            <a:avLst/>
          </a:prstGeom>
          <a:ln w="38100">
            <a:solidFill>
              <a:srgbClr val="96D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332988" y="3698748"/>
            <a:ext cx="100584" cy="100584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024628" y="3332988"/>
            <a:ext cx="100584" cy="100584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70548" y="3259836"/>
            <a:ext cx="100584" cy="100584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179308" y="3653027"/>
            <a:ext cx="100584" cy="100584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82112" y="3904487"/>
            <a:ext cx="402336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>
                <a:solidFill>
                  <a:srgbClr val="F4EFEA"/>
                </a:solidFill>
                <a:latin typeface="Instrument Serif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3904487"/>
            <a:ext cx="402336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>
                <a:solidFill>
                  <a:srgbClr val="F4EFEA"/>
                </a:solidFill>
                <a:latin typeface="Instrument Serif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3904487"/>
            <a:ext cx="402336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>
                <a:solidFill>
                  <a:srgbClr val="F4EFEA"/>
                </a:solidFill>
                <a:latin typeface="Instrument Serif"/>
              </a:rPr>
              <a:t>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3904487"/>
            <a:ext cx="402336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>
                <a:solidFill>
                  <a:srgbClr val="F4EFEA"/>
                </a:solidFill>
                <a:latin typeface="Instrument Serif"/>
              </a:rPr>
              <a:t>24</a:t>
            </a: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D3E973C7-DD62-2608-CC73-487BF4AF3E17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 rarely plan around it.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63778"/>
            <a:ext cx="586699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/prices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1828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 dirty="0">
                <a:solidFill>
                  <a:srgbClr val="96D9A7"/>
                </a:solidFill>
                <a:latin typeface="General Sans"/>
              </a:rPr>
              <a:t>EXTERNAL SHOCKS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914400"/>
            <a:ext cx="1664208" cy="3063240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19272" y="1115568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A2A2A"/>
                </a:solidFill>
                <a:latin typeface="General Sa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1481328"/>
            <a:ext cx="132588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A2A2A"/>
                </a:solidFill>
                <a:latin typeface="Instrument Serif"/>
              </a:rPr>
              <a:t>War and
sanctions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9273" y="2331720"/>
            <a:ext cx="1325880" cy="807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6D6864"/>
                </a:solidFill>
                <a:latin typeface="General Sans"/>
              </a:rPr>
              <a:t>The 2022 invasion of Ukraine pushed European gas and power prices to record highs.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914400"/>
            <a:ext cx="1664208" cy="306324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75504" y="1115568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A2A2A"/>
                </a:solidFill>
                <a:latin typeface="General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1481328"/>
            <a:ext cx="132588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A2A2A"/>
                </a:solidFill>
                <a:latin typeface="Instrument Serif"/>
              </a:rPr>
              <a:t>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2331720"/>
            <a:ext cx="1163303" cy="80791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050" b="0" dirty="0">
                <a:solidFill>
                  <a:srgbClr val="6D6864"/>
                </a:solidFill>
                <a:latin typeface="General Sans"/>
              </a:rPr>
              <a:t>Cold snaps, heat waves, low wind and dry rivers shift supply and demand.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914400"/>
            <a:ext cx="1664208" cy="306324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31736" y="1115568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A2A2A"/>
                </a:solidFill>
                <a:latin typeface="General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1736" y="1481328"/>
            <a:ext cx="132588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A2A2A"/>
                </a:solidFill>
                <a:latin typeface="Instrument Serif"/>
              </a:rPr>
              <a:t>Outages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1736" y="2331720"/>
            <a:ext cx="1227311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6D6864"/>
                </a:solidFill>
                <a:latin typeface="General Sans"/>
              </a:rPr>
              <a:t>Plant or grid outages can tighten supply within hours.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97680"/>
            <a:ext cx="539496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4EFEA"/>
                </a:solidFill>
                <a:latin typeface="General Sans"/>
              </a:rPr>
              <a:t>Switzerland trades power with its neighbours, so these shocks reach Swiss prices too.</a:t>
            </a:r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03571E30-EA4A-09C5-F61A-2EB10EC2170C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The price moves, always.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63778"/>
            <a:ext cx="827150" cy="2154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/use-case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30175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 dirty="0">
                <a:solidFill>
                  <a:srgbClr val="6D6864"/>
                </a:solidFill>
                <a:latin typeface="General Sans"/>
              </a:rPr>
              <a:t>FROM PERSON → GOAL → PRODUCT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1568" y="1005840"/>
            <a:ext cx="41148" cy="2880360"/>
          </a:xfrm>
          <a:prstGeom prst="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182112" y="914400"/>
            <a:ext cx="475488" cy="475488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82112" y="1019556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2A2A2A"/>
                </a:solidFill>
                <a:latin typeface="Instrument Serif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896112"/>
            <a:ext cx="182880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2A2A2A"/>
                </a:solidFill>
                <a:latin typeface="Instrument Serif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298448"/>
            <a:ext cx="45262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D6864"/>
                </a:solidFill>
                <a:latin typeface="General Sans"/>
              </a:rPr>
              <a:t>Me and my family, at home</a:t>
            </a:r>
          </a:p>
        </p:txBody>
      </p:sp>
      <p:sp>
        <p:nvSpPr>
          <p:cNvPr id="13" name="Oval 12"/>
          <p:cNvSpPr/>
          <p:nvPr/>
        </p:nvSpPr>
        <p:spPr>
          <a:xfrm>
            <a:off x="3182112" y="1828800"/>
            <a:ext cx="475488" cy="475488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82112" y="1933956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2A2A2A"/>
                </a:solidFill>
                <a:latin typeface="Instrument Serif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1810512"/>
            <a:ext cx="182880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2A2A2A"/>
                </a:solidFill>
                <a:latin typeface="Instrument Serif"/>
              </a:rPr>
              <a:t>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212848"/>
            <a:ext cx="446738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D6864"/>
                </a:solidFill>
                <a:latin typeface="General Sans"/>
              </a:rPr>
              <a:t>See our usage, spot expensive hours ahead, shift flexible loads like laundry</a:t>
            </a:r>
          </a:p>
        </p:txBody>
      </p:sp>
      <p:sp>
        <p:nvSpPr>
          <p:cNvPr id="17" name="Oval 16"/>
          <p:cNvSpPr/>
          <p:nvPr/>
        </p:nvSpPr>
        <p:spPr>
          <a:xfrm>
            <a:off x="3182112" y="2907792"/>
            <a:ext cx="475488" cy="475488"/>
          </a:xfrm>
          <a:prstGeom prst="ellipse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82112" y="3012948"/>
            <a:ext cx="475488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2A2A2A"/>
                </a:solidFill>
                <a:latin typeface="Instrument Serif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889504"/>
            <a:ext cx="182880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2A2A2A"/>
                </a:solidFill>
                <a:latin typeface="Instrument Serif"/>
              </a:rPr>
              <a:t>Data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291840"/>
            <a:ext cx="4389895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>
                <a:solidFill>
                  <a:srgbClr val="6D6864"/>
                </a:solidFill>
                <a:latin typeface="General Sans"/>
              </a:rPr>
              <a:t>Curated hourly table, dashboard, price forecast and optimization agent (stretch)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343400"/>
            <a:ext cx="53949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D6864"/>
                </a:solidFill>
                <a:latin typeface="General Sans"/>
              </a:rPr>
              <a:t>Price is a wholesale market signal, not our retail bill. The dashboard will say 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4160520"/>
            <a:ext cx="5394960" cy="5029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54680" y="4329739"/>
            <a:ext cx="539496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dirty="0">
                <a:solidFill>
                  <a:srgbClr val="96D9A7"/>
                </a:solidFill>
                <a:latin typeface="General Sans"/>
              </a:rPr>
              <a:t>HOURLY LOAD + PRICE  →  DASHBOARD  →  PRICE FORECAST</a:t>
            </a: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5430C731-7F49-E7E7-BCA2-B4879E74439E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The </a:t>
            </a:r>
            <a:r>
              <a:rPr lang="en-US" sz="2000" dirty="0" err="1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usecase</a:t>
            </a: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463778"/>
            <a:ext cx="16459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dirty="0">
                <a:solidFill>
                  <a:srgbClr val="96D9A7"/>
                </a:solidFill>
                <a:latin typeface="General Sans"/>
              </a:rPr>
              <a:t>THE INPUT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740664"/>
            <a:ext cx="2560320" cy="141732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89611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D6864"/>
                </a:solidFill>
                <a:latin typeface="General Sa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170432"/>
            <a:ext cx="20574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0" dirty="0">
                <a:solidFill>
                  <a:srgbClr val="2A2A2A"/>
                </a:solidFill>
                <a:latin typeface="Instrument Serif"/>
              </a:rPr>
              <a:t>ENTSO-E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63624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dirty="0">
                <a:solidFill>
                  <a:srgbClr val="6D6864"/>
                </a:solidFill>
                <a:latin typeface="General Sans"/>
              </a:rPr>
              <a:t>Transparency Platform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740664"/>
            <a:ext cx="2560320" cy="1417320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89611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2A2A2A"/>
                </a:solidFill>
                <a:latin typeface="General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170432"/>
            <a:ext cx="20574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0">
                <a:solidFill>
                  <a:srgbClr val="2A2A2A"/>
                </a:solidFill>
                <a:latin typeface="Instrument Serif"/>
              </a:rPr>
              <a:t>Open-Meteo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563624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General Sans"/>
              </a:rPr>
              <a:t>Weather Forecast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313432"/>
            <a:ext cx="5349240" cy="178308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64992" y="249631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D6864"/>
                </a:solidFill>
                <a:latin typeface="General Sans"/>
              </a:rPr>
              <a:t>DATASET /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788920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Instrument Serif"/>
              </a:rPr>
              <a:t>ENTSO-E actual 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3081528"/>
            <a:ext cx="2331720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2A2A2A"/>
                </a:solidFill>
                <a:latin typeface="General Sans"/>
              </a:rPr>
              <a:t>DateTime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(UTC)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ResolutionCode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AreaDisplayName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AreaTypeCode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AreaMapCode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TotalLoad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[MW]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UpdateTime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(UTC)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2788920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Instrument Serif"/>
              </a:rPr>
              <a:t>ENTSO-E day-ahead price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3081528"/>
            <a:ext cx="2212848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General Sans"/>
              </a:rPr>
              <a:t>InstanceCode · DateTime(UTC) · ResolutionCode
AreaCode · ContractType · Sequence
Price[Currency/MWh] · Currency · UpdateTime(UTC)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4247930"/>
            <a:ext cx="5349240" cy="310896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73552" y="4321082"/>
            <a:ext cx="5102352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dirty="0">
                <a:solidFill>
                  <a:srgbClr val="2A2A2A"/>
                </a:solidFill>
                <a:latin typeface="General Sans"/>
              </a:rPr>
              <a:t>Open-</a:t>
            </a:r>
            <a:r>
              <a:rPr sz="800" dirty="0" err="1">
                <a:solidFill>
                  <a:srgbClr val="2A2A2A"/>
                </a:solidFill>
                <a:latin typeface="General Sans"/>
              </a:rPr>
              <a:t>Meteo</a:t>
            </a:r>
            <a:r>
              <a:rPr sz="800" dirty="0">
                <a:solidFill>
                  <a:srgbClr val="2A2A2A"/>
                </a:solidFill>
                <a:latin typeface="General Sans"/>
              </a:rPr>
              <a:t> JSON  ·  </a:t>
            </a:r>
            <a:r>
              <a:rPr sz="800" dirty="0" err="1">
                <a:solidFill>
                  <a:srgbClr val="2A2A2A"/>
                </a:solidFill>
                <a:latin typeface="General Sans"/>
              </a:rPr>
              <a:t>hourly.time</a:t>
            </a:r>
            <a:r>
              <a:rPr sz="800" dirty="0">
                <a:solidFill>
                  <a:srgbClr val="2A2A2A"/>
                </a:solidFill>
                <a:latin typeface="General Sans"/>
              </a:rPr>
              <a:t>[] + selected variables[]  ·  </a:t>
            </a:r>
            <a:r>
              <a:rPr sz="800" dirty="0" err="1">
                <a:solidFill>
                  <a:srgbClr val="2A2A2A"/>
                </a:solidFill>
                <a:latin typeface="General Sans"/>
              </a:rPr>
              <a:t>hourly_units</a:t>
            </a:r>
            <a:r>
              <a:rPr sz="800" dirty="0">
                <a:solidFill>
                  <a:srgbClr val="2A2A2A"/>
                </a:solidFill>
                <a:latin typeface="General Sans"/>
              </a:rPr>
              <a:t>{}  ·  latitude / longitude / </a:t>
            </a:r>
            <a:r>
              <a:rPr sz="800" dirty="0" err="1">
                <a:solidFill>
                  <a:srgbClr val="2A2A2A"/>
                </a:solidFill>
                <a:latin typeface="General Sans"/>
              </a:rPr>
              <a:t>timezone</a:t>
            </a:r>
            <a:endParaRPr sz="800" dirty="0">
              <a:solidFill>
                <a:srgbClr val="2A2A2A"/>
              </a:solidFill>
              <a:latin typeface="General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154680" y="4604546"/>
            <a:ext cx="534924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0" b="0">
                <a:solidFill>
                  <a:srgbClr val="F4EFEA"/>
                </a:solidFill>
                <a:latin typeface="General Sans"/>
              </a:rPr>
              <a:t>Daily batch pull  ·  short lookback protects against late / revised source values.</a:t>
            </a:r>
          </a:p>
        </p:txBody>
      </p:sp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F17F380E-4185-1612-9EA5-7955E1F13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26" name="Text 3">
            <a:extLst>
              <a:ext uri="{FF2B5EF4-FFF2-40B4-BE49-F238E27FC236}">
                <a16:creationId xmlns:a16="http://schemas.microsoft.com/office/drawing/2014/main" id="{D0B42B05-E569-6510-0688-20F8027B2692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Sources.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463778"/>
            <a:ext cx="16459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6D6864"/>
                </a:solidFill>
                <a:latin typeface="General Sans"/>
              </a:rPr>
              <a:t>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841248"/>
            <a:ext cx="5349240" cy="457200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64992" y="924602"/>
            <a:ext cx="132588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dirty="0">
                <a:latin typeface="Instrument Serif"/>
              </a:rPr>
              <a:t>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991429"/>
            <a:ext cx="3520440" cy="156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19" b="0" dirty="0">
                <a:latin typeface="General Sans"/>
              </a:rPr>
              <a:t>ENTSO-E</a:t>
            </a:r>
            <a:r>
              <a:rPr lang="de-CH" sz="1019" b="0" dirty="0">
                <a:latin typeface="General Sans"/>
              </a:rPr>
              <a:t>, Powermeter @ </a:t>
            </a:r>
            <a:r>
              <a:rPr lang="de-CH" sz="1019" b="0" dirty="0" err="1">
                <a:latin typeface="General Sans"/>
              </a:rPr>
              <a:t>home</a:t>
            </a:r>
            <a:r>
              <a:rPr lang="de-CH" sz="1019" b="0" dirty="0">
                <a:latin typeface="General Sans"/>
              </a:rPr>
              <a:t>, </a:t>
            </a:r>
            <a:r>
              <a:rPr sz="1019" b="0" dirty="0">
                <a:latin typeface="General Sans"/>
              </a:rPr>
              <a:t> Open-</a:t>
            </a:r>
            <a:r>
              <a:rPr sz="1019" b="0" dirty="0" err="1">
                <a:latin typeface="General Sans"/>
              </a:rPr>
              <a:t>Meteo</a:t>
            </a:r>
            <a:r>
              <a:rPr sz="1019" b="0" dirty="0">
                <a:latin typeface="General Sans"/>
              </a:rPr>
              <a:t> (Zug)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687568" y="1316736"/>
            <a:ext cx="210312" cy="137160"/>
          </a:xfrm>
          <a:prstGeom prst="downArrow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154680" y="1481328"/>
            <a:ext cx="5349240" cy="457200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64992" y="1564682"/>
            <a:ext cx="132588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dirty="0">
                <a:latin typeface="Instrument Serif"/>
              </a:rPr>
              <a:t>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631509"/>
            <a:ext cx="3520440" cy="156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19" b="0" dirty="0">
                <a:latin typeface="General Sans"/>
              </a:rPr>
              <a:t>Python module per source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687568" y="1956816"/>
            <a:ext cx="210312" cy="137160"/>
          </a:xfrm>
          <a:prstGeom prst="downArrow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154680" y="2121408"/>
            <a:ext cx="5349240" cy="457200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64992" y="2204762"/>
            <a:ext cx="132588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latin typeface="Instrument Serif"/>
              </a:rPr>
              <a:t>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271589"/>
            <a:ext cx="3520440" cy="156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19" b="0" dirty="0">
                <a:latin typeface="General Sans"/>
              </a:rPr>
              <a:t>Postgres → later GCS</a:t>
            </a:r>
            <a:endParaRPr lang="de-CH" sz="1019" dirty="0">
              <a:latin typeface="General Sans"/>
            </a:endParaRPr>
          </a:p>
        </p:txBody>
      </p:sp>
      <p:sp>
        <p:nvSpPr>
          <p:cNvPr id="19" name="Down Arrow 18"/>
          <p:cNvSpPr/>
          <p:nvPr/>
        </p:nvSpPr>
        <p:spPr>
          <a:xfrm>
            <a:off x="5687568" y="2596896"/>
            <a:ext cx="210312" cy="137160"/>
          </a:xfrm>
          <a:prstGeom prst="downArrow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154680" y="2761488"/>
            <a:ext cx="5349240" cy="457200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64992" y="2844842"/>
            <a:ext cx="132588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dirty="0">
                <a:latin typeface="Instrument Serif"/>
              </a:rPr>
              <a:t>Transform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2911669"/>
            <a:ext cx="3520440" cy="156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19" b="0" dirty="0">
                <a:latin typeface="General Sans"/>
              </a:rPr>
              <a:t>Clean · align · join · model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687568" y="3236976"/>
            <a:ext cx="210312" cy="137160"/>
          </a:xfrm>
          <a:prstGeom prst="downArrow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54680" y="3401568"/>
            <a:ext cx="5349240" cy="4572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64992" y="3484922"/>
            <a:ext cx="132588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dirty="0">
                <a:solidFill>
                  <a:srgbClr val="F4EFEA"/>
                </a:solidFill>
                <a:latin typeface="Instrument Serif"/>
              </a:rPr>
              <a:t>Curated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3551749"/>
            <a:ext cx="3520440" cy="15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dirty="0">
                <a:solidFill>
                  <a:srgbClr val="F4EFEA"/>
                </a:solidFill>
                <a:latin typeface="General Sans"/>
              </a:rPr>
              <a:t>Postgres → later </a:t>
            </a:r>
            <a:r>
              <a:rPr sz="1019" dirty="0" err="1">
                <a:solidFill>
                  <a:srgbClr val="F4EFEA"/>
                </a:solidFill>
                <a:latin typeface="General Sans"/>
              </a:rPr>
              <a:t>BigQuer</a:t>
            </a:r>
            <a:r>
              <a:rPr lang="de-CH" sz="1019" dirty="0" err="1">
                <a:solidFill>
                  <a:srgbClr val="F4EFEA"/>
                </a:solidFill>
                <a:latin typeface="General Sans"/>
              </a:rPr>
              <a:t>y</a:t>
            </a:r>
            <a:r>
              <a:rPr lang="de-CH" sz="1019" dirty="0">
                <a:solidFill>
                  <a:srgbClr val="F4EFEA"/>
                </a:solidFill>
                <a:latin typeface="General Sans"/>
              </a:rPr>
              <a:t> (</a:t>
            </a:r>
            <a:r>
              <a:rPr lang="de-CH" sz="1019" dirty="0" err="1">
                <a:solidFill>
                  <a:srgbClr val="F4EFEA"/>
                </a:solidFill>
                <a:latin typeface="General Sans"/>
              </a:rPr>
              <a:t>if</a:t>
            </a:r>
            <a:r>
              <a:rPr lang="de-CH" sz="1019" dirty="0">
                <a:solidFill>
                  <a:srgbClr val="F4EFEA"/>
                </a:solidFill>
                <a:latin typeface="General Sans"/>
              </a:rPr>
              <a:t> </a:t>
            </a:r>
            <a:r>
              <a:rPr lang="de-CH" sz="1019" dirty="0" err="1">
                <a:solidFill>
                  <a:srgbClr val="F4EFEA"/>
                </a:solidFill>
                <a:latin typeface="General Sans"/>
              </a:rPr>
              <a:t>necessary</a:t>
            </a:r>
            <a:r>
              <a:rPr lang="de-CH" sz="1019" dirty="0">
                <a:solidFill>
                  <a:srgbClr val="F4EFEA"/>
                </a:solidFill>
                <a:latin typeface="General Sans"/>
              </a:rPr>
              <a:t>)</a:t>
            </a:r>
            <a:endParaRPr sz="1019" dirty="0">
              <a:solidFill>
                <a:srgbClr val="F4EFEA"/>
              </a:solidFill>
              <a:latin typeface="General San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154680" y="4041648"/>
            <a:ext cx="5349240" cy="393192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54680" y="4142232"/>
            <a:ext cx="534924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dirty="0">
                <a:solidFill>
                  <a:srgbClr val="2A2A2A"/>
                </a:solidFill>
                <a:latin typeface="General Sans"/>
              </a:rPr>
              <a:t>ORCHESTRATOR  ·  daily schedule</a:t>
            </a:r>
            <a:r>
              <a:rPr lang="de-CH" sz="1050" dirty="0">
                <a:solidFill>
                  <a:srgbClr val="2A2A2A"/>
                </a:solidFill>
                <a:latin typeface="General Sans"/>
              </a:rPr>
              <a:t> </a:t>
            </a:r>
            <a:r>
              <a:rPr sz="1050" dirty="0">
                <a:solidFill>
                  <a:srgbClr val="2A2A2A"/>
                </a:solidFill>
                <a:latin typeface="General Sans"/>
              </a:rPr>
              <a:t> ·  </a:t>
            </a:r>
            <a:r>
              <a:rPr lang="de-CH" sz="1050" dirty="0">
                <a:solidFill>
                  <a:srgbClr val="2A2A2A"/>
                </a:solidFill>
                <a:latin typeface="General Sans"/>
              </a:rPr>
              <a:t>safe </a:t>
            </a:r>
            <a:r>
              <a:rPr lang="de-CH" sz="1050" dirty="0" err="1">
                <a:solidFill>
                  <a:srgbClr val="2A2A2A"/>
                </a:solidFill>
                <a:latin typeface="General Sans"/>
              </a:rPr>
              <a:t>reruns</a:t>
            </a:r>
            <a:r>
              <a:rPr lang="de-CH" sz="1050" dirty="0">
                <a:solidFill>
                  <a:srgbClr val="2A2A2A"/>
                </a:solidFill>
                <a:latin typeface="General Sans"/>
              </a:rPr>
              <a:t> </a:t>
            </a:r>
            <a:r>
              <a:rPr lang="en-GB" sz="1050" dirty="0">
                <a:solidFill>
                  <a:srgbClr val="2A2A2A"/>
                </a:solidFill>
                <a:latin typeface="General Sans"/>
              </a:rPr>
              <a:t>·  backfill (maybe)</a:t>
            </a:r>
            <a:endParaRPr sz="1050" dirty="0">
              <a:solidFill>
                <a:srgbClr val="2A2A2A"/>
              </a:solidFill>
              <a:latin typeface="General San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364992" y="4532415"/>
            <a:ext cx="594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30" b="1" dirty="0">
                <a:solidFill>
                  <a:srgbClr val="6D6864"/>
                </a:solidFill>
                <a:latin typeface="General Sans"/>
              </a:rPr>
              <a:t>MIDTERM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1" y="4532415"/>
            <a:ext cx="1691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69" b="0" dirty="0">
                <a:solidFill>
                  <a:srgbClr val="2A2A2A"/>
                </a:solidFill>
                <a:latin typeface="General Sans"/>
              </a:rPr>
              <a:t>Docker Compose + 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4532415"/>
            <a:ext cx="5029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30" b="1">
                <a:solidFill>
                  <a:srgbClr val="6D6864"/>
                </a:solidFill>
                <a:latin typeface="General Sans"/>
              </a:rPr>
              <a:t>FINAL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4532415"/>
            <a:ext cx="2057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69" b="0" dirty="0">
                <a:solidFill>
                  <a:srgbClr val="2A2A2A"/>
                </a:solidFill>
                <a:latin typeface="General Sans"/>
              </a:rPr>
              <a:t>Terraform + GCS + </a:t>
            </a:r>
            <a:r>
              <a:rPr sz="869" b="0" dirty="0" err="1">
                <a:solidFill>
                  <a:srgbClr val="2A2A2A"/>
                </a:solidFill>
                <a:latin typeface="General Sans"/>
              </a:rPr>
              <a:t>BigQuery</a:t>
            </a:r>
            <a:endParaRPr sz="869" b="0" dirty="0">
              <a:solidFill>
                <a:srgbClr val="2A2A2A"/>
              </a:solidFill>
              <a:latin typeface="General Sa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154680" y="4730267"/>
            <a:ext cx="5349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60" b="0" dirty="0">
                <a:solidFill>
                  <a:srgbClr val="6D6864"/>
                </a:solidFill>
                <a:latin typeface="General Sans"/>
              </a:rPr>
              <a:t>Raw stays raw. Transformations create the curated layer.</a:t>
            </a:r>
          </a:p>
        </p:txBody>
      </p:sp>
      <p:pic>
        <p:nvPicPr>
          <p:cNvPr id="34" name="Picture 33" descr="image.png">
            <a:extLst>
              <a:ext uri="{FF2B5EF4-FFF2-40B4-BE49-F238E27FC236}">
                <a16:creationId xmlns:a16="http://schemas.microsoft.com/office/drawing/2014/main" id="{64870B9B-59FE-06F3-E26C-830B210D5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35" name="Text 3">
            <a:extLst>
              <a:ext uri="{FF2B5EF4-FFF2-40B4-BE49-F238E27FC236}">
                <a16:creationId xmlns:a16="http://schemas.microsoft.com/office/drawing/2014/main" id="{698B3FCC-1BBA-CE8D-32D0-02E636ED9E35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Architecture V0.1.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FC62EA-D174-49C2-035C-3BCA61E25DB5}"/>
              </a:ext>
            </a:extLst>
          </p:cNvPr>
          <p:cNvSpPr txBox="1"/>
          <p:nvPr/>
        </p:nvSpPr>
        <p:spPr>
          <a:xfrm>
            <a:off x="4681728" y="1150776"/>
            <a:ext cx="352044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800" b="0" dirty="0">
                <a:latin typeface="General Sans"/>
              </a:rPr>
              <a:t>Powermeter will </a:t>
            </a:r>
            <a:r>
              <a:rPr lang="de-CH" sz="800" b="0" dirty="0" err="1">
                <a:latin typeface="General Sans"/>
              </a:rPr>
              <a:t>be</a:t>
            </a:r>
            <a:r>
              <a:rPr lang="de-CH" sz="800" b="0" dirty="0">
                <a:latin typeface="General Sans"/>
              </a:rPr>
              <a:t> </a:t>
            </a:r>
            <a:r>
              <a:rPr lang="de-CH" sz="800" b="0" dirty="0" err="1">
                <a:latin typeface="General Sans"/>
              </a:rPr>
              <a:t>replaced</a:t>
            </a:r>
            <a:r>
              <a:rPr lang="de-CH" sz="800" b="0" dirty="0">
                <a:latin typeface="General Sans"/>
              </a:rPr>
              <a:t> by ENTSO-E for </a:t>
            </a:r>
            <a:r>
              <a:rPr lang="de-CH" sz="800" b="0" dirty="0" err="1">
                <a:latin typeface="General Sans"/>
              </a:rPr>
              <a:t>this</a:t>
            </a:r>
            <a:r>
              <a:rPr lang="de-CH" sz="800" b="0" dirty="0">
                <a:latin typeface="General Sans"/>
              </a:rPr>
              <a:t> </a:t>
            </a:r>
            <a:r>
              <a:rPr lang="de-CH" sz="800" b="0" dirty="0" err="1">
                <a:latin typeface="General Sans"/>
              </a:rPr>
              <a:t>project</a:t>
            </a:r>
            <a:r>
              <a:rPr lang="de-CH" sz="800" b="0" dirty="0">
                <a:latin typeface="General Sans"/>
              </a:rPr>
              <a:t>.</a:t>
            </a:r>
            <a:endParaRPr sz="800" b="0" dirty="0">
              <a:latin typeface="General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D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DEA0C-EC01-EA94-B012-3F41179E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8B205-C695-240D-BFC7-6521789EED8C}"/>
              </a:ext>
            </a:extLst>
          </p:cNvPr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B435E2-3580-A92E-8804-4BFBCC4A8D3E}"/>
              </a:ext>
            </a:extLst>
          </p:cNvPr>
          <p:cNvSpPr txBox="1"/>
          <p:nvPr/>
        </p:nvSpPr>
        <p:spPr>
          <a:xfrm>
            <a:off x="960120" y="463778"/>
            <a:ext cx="16459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</a:t>
            </a:r>
            <a:r>
              <a:rPr lang="de-CH" sz="1400" dirty="0" err="1">
                <a:solidFill>
                  <a:srgbClr val="2A2A2A"/>
                </a:solidFill>
                <a:latin typeface="General Sans"/>
              </a:rPr>
              <a:t>challenges</a:t>
            </a:r>
            <a:endParaRPr sz="1400" b="0" dirty="0">
              <a:solidFill>
                <a:srgbClr val="2A2A2A"/>
              </a:solidFill>
              <a:latin typeface="General San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7EA3FA-0B3D-68E8-AFFE-D9D610EADD08}"/>
              </a:ext>
            </a:extLst>
          </p:cNvPr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5DEFBD-A416-9476-9977-6FFE8EC9B485}"/>
              </a:ext>
            </a:extLst>
          </p:cNvPr>
          <p:cNvSpPr txBox="1"/>
          <p:nvPr/>
        </p:nvSpPr>
        <p:spPr>
          <a:xfrm>
            <a:off x="3154680" y="502920"/>
            <a:ext cx="2542032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950" b="1" dirty="0">
                <a:solidFill>
                  <a:srgbClr val="96D9A7"/>
                </a:solidFill>
                <a:latin typeface="General Sans"/>
              </a:rPr>
              <a:t>LOOKING FORWARD TO SOLVING</a:t>
            </a:r>
            <a:endParaRPr sz="950" b="1" dirty="0">
              <a:solidFill>
                <a:srgbClr val="96D9A7"/>
              </a:solidFill>
              <a:latin typeface="General San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F779E5D-485A-2E20-817B-9A42AFBDA259}"/>
              </a:ext>
            </a:extLst>
          </p:cNvPr>
          <p:cNvSpPr/>
          <p:nvPr/>
        </p:nvSpPr>
        <p:spPr>
          <a:xfrm>
            <a:off x="3154680" y="1078882"/>
            <a:ext cx="2560320" cy="141732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7BEBF9-03D4-3313-77E4-BD7B24459930}"/>
              </a:ext>
            </a:extLst>
          </p:cNvPr>
          <p:cNvSpPr txBox="1"/>
          <p:nvPr/>
        </p:nvSpPr>
        <p:spPr>
          <a:xfrm>
            <a:off x="3364992" y="12343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D6864"/>
                </a:solidFill>
                <a:latin typeface="General Sans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73B9C-746C-8EAD-B784-F192E6CC0C5F}"/>
              </a:ext>
            </a:extLst>
          </p:cNvPr>
          <p:cNvSpPr txBox="1"/>
          <p:nvPr/>
        </p:nvSpPr>
        <p:spPr>
          <a:xfrm>
            <a:off x="3364992" y="1508650"/>
            <a:ext cx="2057400" cy="8002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2600" b="0" dirty="0">
                <a:solidFill>
                  <a:srgbClr val="2A2A2A"/>
                </a:solidFill>
                <a:latin typeface="Instrument Serif"/>
              </a:rPr>
              <a:t>Temporal </a:t>
            </a:r>
            <a:r>
              <a:rPr lang="de-CH" sz="2600" b="0" dirty="0" err="1">
                <a:solidFill>
                  <a:srgbClr val="2A2A2A"/>
                </a:solidFill>
                <a:latin typeface="Instrument Serif"/>
              </a:rPr>
              <a:t>alignment</a:t>
            </a:r>
            <a:endParaRPr sz="2600" b="0" dirty="0">
              <a:solidFill>
                <a:srgbClr val="2A2A2A"/>
              </a:solidFill>
              <a:latin typeface="Instrument Serif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4F6527E-8502-C11A-1333-975F9A22CF22}"/>
              </a:ext>
            </a:extLst>
          </p:cNvPr>
          <p:cNvSpPr/>
          <p:nvPr/>
        </p:nvSpPr>
        <p:spPr>
          <a:xfrm>
            <a:off x="5943600" y="1078882"/>
            <a:ext cx="2560320" cy="1417320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BD6AF-C18A-C6FC-8859-721D8D634E5F}"/>
              </a:ext>
            </a:extLst>
          </p:cNvPr>
          <p:cNvSpPr txBox="1"/>
          <p:nvPr/>
        </p:nvSpPr>
        <p:spPr>
          <a:xfrm>
            <a:off x="6153912" y="12343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2A2A2A"/>
                </a:solidFill>
                <a:latin typeface="General Sans"/>
              </a:rPr>
              <a:t>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91D841-5178-4F9A-65A7-2F4AC310B421}"/>
              </a:ext>
            </a:extLst>
          </p:cNvPr>
          <p:cNvSpPr txBox="1"/>
          <p:nvPr/>
        </p:nvSpPr>
        <p:spPr>
          <a:xfrm>
            <a:off x="6153912" y="1508650"/>
            <a:ext cx="2057400" cy="8002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2600" b="0" dirty="0">
                <a:solidFill>
                  <a:srgbClr val="2A2A2A"/>
                </a:solidFill>
                <a:latin typeface="Instrument Serif"/>
              </a:rPr>
              <a:t>API </a:t>
            </a:r>
            <a:br>
              <a:rPr lang="de-CH" sz="2600" b="0" dirty="0">
                <a:solidFill>
                  <a:srgbClr val="2A2A2A"/>
                </a:solidFill>
                <a:latin typeface="Instrument Serif"/>
              </a:rPr>
            </a:br>
            <a:r>
              <a:rPr lang="de-CH" sz="2600" b="0" dirty="0" err="1">
                <a:solidFill>
                  <a:srgbClr val="2A2A2A"/>
                </a:solidFill>
                <a:latin typeface="Instrument Serif"/>
              </a:rPr>
              <a:t>Reachability</a:t>
            </a:r>
            <a:endParaRPr sz="2600" b="0" dirty="0">
              <a:solidFill>
                <a:srgbClr val="2A2A2A"/>
              </a:solidFill>
              <a:latin typeface="Instrument Serif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F0C7EE-74D8-CE18-8868-DFFB007E187D}"/>
              </a:ext>
            </a:extLst>
          </p:cNvPr>
          <p:cNvSpPr txBox="1"/>
          <p:nvPr/>
        </p:nvSpPr>
        <p:spPr>
          <a:xfrm>
            <a:off x="3364992" y="2496202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Instrument Serif"/>
              </a:rPr>
              <a:t>ENTSO-E actual load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D7303C-2310-533F-F34A-50BA666626D9}"/>
              </a:ext>
            </a:extLst>
          </p:cNvPr>
          <p:cNvSpPr txBox="1"/>
          <p:nvPr/>
        </p:nvSpPr>
        <p:spPr>
          <a:xfrm>
            <a:off x="3364992" y="2788810"/>
            <a:ext cx="2331720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2A2A2A"/>
                </a:solidFill>
                <a:latin typeface="General Sans"/>
              </a:rPr>
              <a:t>DateTime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(UTC)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ResolutionCode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AreaDisplayName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AreaTypeCode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AreaMapCode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
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TotalLoad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[MW] · </a:t>
            </a:r>
            <a:r>
              <a:rPr sz="900" b="0" dirty="0" err="1">
                <a:solidFill>
                  <a:srgbClr val="2A2A2A"/>
                </a:solidFill>
                <a:latin typeface="General Sans"/>
              </a:rPr>
              <a:t>UpdateTime</a:t>
            </a:r>
            <a:r>
              <a:rPr sz="900" b="0" dirty="0">
                <a:solidFill>
                  <a:srgbClr val="2A2A2A"/>
                </a:solidFill>
                <a:latin typeface="General Sans"/>
              </a:rPr>
              <a:t>(UTC)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8AA119-E75F-36E0-4628-36D67E711AAD}"/>
              </a:ext>
            </a:extLst>
          </p:cNvPr>
          <p:cNvSpPr txBox="1"/>
          <p:nvPr/>
        </p:nvSpPr>
        <p:spPr>
          <a:xfrm>
            <a:off x="5943600" y="2496202"/>
            <a:ext cx="2148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Instrument Serif"/>
              </a:rPr>
              <a:t>ENTSO-E day-ahead price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72E20-AF43-42AF-9501-BE7D3A500CD8}"/>
              </a:ext>
            </a:extLst>
          </p:cNvPr>
          <p:cNvSpPr txBox="1"/>
          <p:nvPr/>
        </p:nvSpPr>
        <p:spPr>
          <a:xfrm>
            <a:off x="5943600" y="2788810"/>
            <a:ext cx="2212848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General Sans"/>
              </a:rPr>
              <a:t>InstanceCode · DateTime(UTC) · ResolutionCode
AreaCode · ContractType · Sequence
Price[Currency/MWh] · Currency · UpdateTime(UTC)</a:t>
            </a:r>
          </a:p>
        </p:txBody>
      </p:sp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D843A4EC-8C94-BAE6-08FD-1F15C5DBB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26" name="Text 3">
            <a:extLst>
              <a:ext uri="{FF2B5EF4-FFF2-40B4-BE49-F238E27FC236}">
                <a16:creationId xmlns:a16="http://schemas.microsoft.com/office/drawing/2014/main" id="{EB2529BF-E130-384E-8B6E-E50FEA55993B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Challenges.</a:t>
            </a:r>
            <a:endParaRPr lang="en-US" sz="20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FBEF9C-562C-C41B-59FF-451C05043D1E}"/>
              </a:ext>
            </a:extLst>
          </p:cNvPr>
          <p:cNvSpPr/>
          <p:nvPr/>
        </p:nvSpPr>
        <p:spPr>
          <a:xfrm>
            <a:off x="5943600" y="2692799"/>
            <a:ext cx="2560320" cy="141732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66D2A5-0D00-784E-B8D5-6864A523D059}"/>
              </a:ext>
            </a:extLst>
          </p:cNvPr>
          <p:cNvSpPr txBox="1"/>
          <p:nvPr/>
        </p:nvSpPr>
        <p:spPr>
          <a:xfrm>
            <a:off x="6153912" y="2848247"/>
            <a:ext cx="41148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dirty="0">
                <a:solidFill>
                  <a:srgbClr val="6D6864"/>
                </a:solidFill>
                <a:latin typeface="General Sans"/>
              </a:rPr>
              <a:t>0</a:t>
            </a:r>
            <a:r>
              <a:rPr lang="de-CH" sz="900" b="1" dirty="0">
                <a:solidFill>
                  <a:srgbClr val="6D6864"/>
                </a:solidFill>
                <a:latin typeface="General Sans"/>
              </a:rPr>
              <a:t>4</a:t>
            </a:r>
            <a:endParaRPr sz="900" b="1" dirty="0">
              <a:solidFill>
                <a:srgbClr val="6D6864"/>
              </a:solidFill>
              <a:latin typeface="General San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B8A911-39A1-BA66-B33E-9A75A8099589}"/>
              </a:ext>
            </a:extLst>
          </p:cNvPr>
          <p:cNvSpPr txBox="1"/>
          <p:nvPr/>
        </p:nvSpPr>
        <p:spPr>
          <a:xfrm>
            <a:off x="6153912" y="3122567"/>
            <a:ext cx="20574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2600" b="0" dirty="0">
                <a:solidFill>
                  <a:srgbClr val="2A2A2A"/>
                </a:solidFill>
                <a:latin typeface="Instrument Serif"/>
              </a:rPr>
              <a:t>Scope Creep</a:t>
            </a:r>
            <a:endParaRPr sz="2600" b="0" dirty="0">
              <a:solidFill>
                <a:srgbClr val="2A2A2A"/>
              </a:solidFill>
              <a:latin typeface="Instrument Serif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FEA349F-B738-9118-5703-935CFB7F5418}"/>
              </a:ext>
            </a:extLst>
          </p:cNvPr>
          <p:cNvSpPr/>
          <p:nvPr/>
        </p:nvSpPr>
        <p:spPr>
          <a:xfrm>
            <a:off x="3154680" y="2692799"/>
            <a:ext cx="2560320" cy="1417320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CE42C4-2BA4-1D40-B746-66E0D3AD3F81}"/>
              </a:ext>
            </a:extLst>
          </p:cNvPr>
          <p:cNvSpPr txBox="1"/>
          <p:nvPr/>
        </p:nvSpPr>
        <p:spPr>
          <a:xfrm>
            <a:off x="3364992" y="2848247"/>
            <a:ext cx="41148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dirty="0">
                <a:solidFill>
                  <a:srgbClr val="2A2A2A"/>
                </a:solidFill>
                <a:latin typeface="General Sans"/>
              </a:rPr>
              <a:t>0</a:t>
            </a:r>
            <a:r>
              <a:rPr lang="de-CH" sz="900" b="1" dirty="0">
                <a:solidFill>
                  <a:srgbClr val="2A2A2A"/>
                </a:solidFill>
                <a:latin typeface="General Sans"/>
              </a:rPr>
              <a:t>3</a:t>
            </a:r>
            <a:endParaRPr sz="900" b="1" dirty="0">
              <a:solidFill>
                <a:srgbClr val="2A2A2A"/>
              </a:solidFill>
              <a:latin typeface="General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490520-2543-D799-86FF-55560509BD67}"/>
              </a:ext>
            </a:extLst>
          </p:cNvPr>
          <p:cNvSpPr txBox="1"/>
          <p:nvPr/>
        </p:nvSpPr>
        <p:spPr>
          <a:xfrm>
            <a:off x="3364992" y="3122567"/>
            <a:ext cx="20574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de-CH" sz="2600" b="0" dirty="0">
                <a:solidFill>
                  <a:srgbClr val="2A2A2A"/>
                </a:solidFill>
                <a:latin typeface="Instrument Serif"/>
              </a:rPr>
              <a:t>DST</a:t>
            </a:r>
            <a:endParaRPr sz="2600" b="0" dirty="0">
              <a:solidFill>
                <a:srgbClr val="2A2A2A"/>
              </a:solidFill>
              <a:latin typeface="Instrument Serif"/>
            </a:endParaRPr>
          </a:p>
        </p:txBody>
      </p:sp>
    </p:spTree>
    <p:extLst>
      <p:ext uri="{BB962C8B-B14F-4D97-AF65-F5344CB8AC3E}">
        <p14:creationId xmlns:p14="http://schemas.microsoft.com/office/powerpoint/2010/main" val="2050629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463778"/>
            <a:ext cx="16459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"/>
            <a:ext cx="6217920" cy="4754880"/>
          </a:xfrm>
          <a:prstGeom prst="roundRect">
            <a:avLst/>
          </a:prstGeom>
          <a:solidFill>
            <a:srgbClr val="F4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54680" y="50292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6D6864"/>
                </a:solidFill>
                <a:latin typeface="General Sans"/>
              </a:rPr>
              <a:t>EXECUTION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786384"/>
            <a:ext cx="2578608" cy="1664208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960119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>
                <a:solidFill>
                  <a:srgbClr val="F4EFEA"/>
                </a:solidFill>
                <a:latin typeface="Instrument Serif"/>
              </a:rPr>
              <a:t>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1490472"/>
            <a:ext cx="214884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F4EFEA"/>
                </a:solidFill>
                <a:latin typeface="General Sans"/>
              </a:rPr>
              <a:t>Daily incremental load with short lookback
Idempotent loads, safe to rerun
Retry with backoff, then fail loudly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786384"/>
            <a:ext cx="2560320" cy="1664208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0488" y="960119"/>
            <a:ext cx="20574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>
                <a:solidFill>
                  <a:srgbClr val="2A2A2A"/>
                </a:solidFill>
                <a:latin typeface="Instrument Serif"/>
              </a:rPr>
              <a:t>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490472"/>
            <a:ext cx="205740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D6864"/>
                </a:solidFill>
                <a:latin typeface="General Sans"/>
              </a:rPr>
              <a:t>Raw data kept unchanged
Postgres locally → GCS + BigQuery for final
Partition by date, cluster by series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57175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6D6864"/>
                </a:solidFill>
                <a:latin typeface="General Sans"/>
              </a:rPr>
              <a:t>MILESTONES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4680" y="2882646"/>
            <a:ext cx="1508760" cy="804672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19272" y="302895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A2A2A"/>
                </a:solidFill>
                <a:latin typeface="Instrument Serif"/>
              </a:rPr>
              <a:t>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3403854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90" b="0">
                <a:solidFill>
                  <a:srgbClr val="2A2A2A"/>
                </a:solidFill>
                <a:latin typeface="General Sans"/>
              </a:rPr>
              <a:t>Week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2882646"/>
            <a:ext cx="1508760" cy="804672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9783" y="302895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>
                <a:solidFill>
                  <a:srgbClr val="2A2A2A"/>
                </a:solidFill>
                <a:latin typeface="Instrument Serif"/>
              </a:rPr>
              <a:t>Midterm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9783" y="3403854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90" b="0">
                <a:solidFill>
                  <a:srgbClr val="2A2A2A"/>
                </a:solidFill>
                <a:latin typeface="General Sans"/>
              </a:rPr>
              <a:t>Repo due 22 Oct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75704" y="2882646"/>
            <a:ext cx="1508760" cy="804672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0296" y="302895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>
                <a:solidFill>
                  <a:srgbClr val="F4EFEA"/>
                </a:solidFill>
                <a:latin typeface="Instrument Serif"/>
              </a:rPr>
              <a:t>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3403854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90" b="0">
                <a:solidFill>
                  <a:srgbClr val="F4EFEA"/>
                </a:solidFill>
                <a:latin typeface="General Sans"/>
              </a:rPr>
              <a:t>Repo due 10 Dec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3897630"/>
            <a:ext cx="5349240" cy="285751"/>
          </a:xfrm>
          <a:prstGeom prst="roundRect">
            <a:avLst/>
          </a:prstGeom>
          <a:solidFill>
            <a:srgbClr val="E9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91840" y="3975872"/>
            <a:ext cx="621792" cy="1292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 dirty="0">
                <a:solidFill>
                  <a:srgbClr val="6D6864"/>
                </a:solidFill>
                <a:latin typeface="General Sans"/>
              </a:rPr>
              <a:t>MIDTERM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9352" y="3975872"/>
            <a:ext cx="4343400" cy="1337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69" b="0" dirty="0">
                <a:solidFill>
                  <a:srgbClr val="2A2A2A"/>
                </a:solidFill>
                <a:latin typeface="General Sans"/>
              </a:rPr>
              <a:t>orchestrator + ENTSO-E load/price + raw schema + DST handling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4363973"/>
            <a:ext cx="5349240" cy="285751"/>
          </a:xfrm>
          <a:prstGeom prst="roundRect">
            <a:avLst/>
          </a:prstGeom>
          <a:solidFill>
            <a:srgbClr val="96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91840" y="4439970"/>
            <a:ext cx="502920" cy="1292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 dirty="0">
                <a:solidFill>
                  <a:srgbClr val="2A2A2A"/>
                </a:solidFill>
                <a:latin typeface="General Sans"/>
              </a:rPr>
              <a:t>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4439970"/>
            <a:ext cx="4526280" cy="1337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69" dirty="0">
                <a:solidFill>
                  <a:srgbClr val="2A2A2A"/>
                </a:solidFill>
                <a:latin typeface="General Sans"/>
              </a:rPr>
              <a:t>Open-</a:t>
            </a:r>
            <a:r>
              <a:rPr sz="869" dirty="0" err="1">
                <a:solidFill>
                  <a:srgbClr val="2A2A2A"/>
                </a:solidFill>
                <a:latin typeface="General Sans"/>
              </a:rPr>
              <a:t>Meteo</a:t>
            </a:r>
            <a:r>
              <a:rPr sz="869" dirty="0">
                <a:solidFill>
                  <a:srgbClr val="2A2A2A"/>
                </a:solidFill>
                <a:latin typeface="General Sans"/>
              </a:rPr>
              <a:t> weather + data quality + cloud pipeline</a:t>
            </a: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3F7DF85E-D037-F7A3-97A7-8337C8E8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31" name="Text 3">
            <a:extLst>
              <a:ext uri="{FF2B5EF4-FFF2-40B4-BE49-F238E27FC236}">
                <a16:creationId xmlns:a16="http://schemas.microsoft.com/office/drawing/2014/main" id="{EB9A0FA0-4D73-C6DC-4A46-AB75B0452290}"/>
              </a:ext>
            </a:extLst>
          </p:cNvPr>
          <p:cNvSpPr txBox="1"/>
          <p:nvPr/>
        </p:nvSpPr>
        <p:spPr>
          <a:xfrm>
            <a:off x="320040" y="3520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Ingestion,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Storage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&amp; Plan.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D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EBD0C9-8B2D-32C0-ABF0-AC8F951B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0F7D05-ABFE-CF57-686E-FAFBCD448F12}"/>
              </a:ext>
            </a:extLst>
          </p:cNvPr>
          <p:cNvSpPr/>
          <p:nvPr/>
        </p:nvSpPr>
        <p:spPr>
          <a:xfrm>
            <a:off x="320040" y="320040"/>
            <a:ext cx="502920" cy="502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3107A-9B5D-1636-20B4-EDC86A41B1B9}"/>
              </a:ext>
            </a:extLst>
          </p:cNvPr>
          <p:cNvSpPr txBox="1"/>
          <p:nvPr/>
        </p:nvSpPr>
        <p:spPr>
          <a:xfrm>
            <a:off x="960120" y="463778"/>
            <a:ext cx="16459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A2A2A"/>
                </a:solidFill>
                <a:latin typeface="General Sans"/>
              </a:rPr>
              <a:t>/</a:t>
            </a:r>
            <a:r>
              <a:rPr lang="de-CH" sz="1400" b="0" dirty="0" err="1">
                <a:solidFill>
                  <a:srgbClr val="2A2A2A"/>
                </a:solidFill>
                <a:latin typeface="General Sans"/>
              </a:rPr>
              <a:t>questions</a:t>
            </a:r>
            <a:endParaRPr sz="1400" b="0" dirty="0">
              <a:solidFill>
                <a:srgbClr val="2A2A2A"/>
              </a:solidFill>
              <a:latin typeface="General Sans"/>
            </a:endParaRP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63BE8D78-C69D-3B4B-7887-A51F4CC06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29768"/>
            <a:ext cx="329184" cy="292608"/>
          </a:xfrm>
          <a:prstGeom prst="rect">
            <a:avLst/>
          </a:prstGeom>
        </p:spPr>
      </p:pic>
      <p:sp>
        <p:nvSpPr>
          <p:cNvPr id="31" name="Text 3">
            <a:extLst>
              <a:ext uri="{FF2B5EF4-FFF2-40B4-BE49-F238E27FC236}">
                <a16:creationId xmlns:a16="http://schemas.microsoft.com/office/drawing/2014/main" id="{FC15816B-1A90-9A71-15DE-1B7850FEB6B6}"/>
              </a:ext>
            </a:extLst>
          </p:cNvPr>
          <p:cNvSpPr txBox="1"/>
          <p:nvPr/>
        </p:nvSpPr>
        <p:spPr>
          <a:xfrm>
            <a:off x="3344340" y="2360682"/>
            <a:ext cx="2455319" cy="422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2A2A2A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Questions?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41713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657</Words>
  <Application>Microsoft Macintosh PowerPoint</Application>
  <PresentationFormat>On-screen Show (16:9)</PresentationFormat>
  <Paragraphs>148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General Sans</vt:lpstr>
      <vt:lpstr>Instrument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saftimize - DENG HS26 pitch</dc:title>
  <dc:subject>PptxGenJS Presentation</dc:subject>
  <dc:creator>PptxGenJS</dc:creator>
  <cp:lastModifiedBy>Schlumpf Timo I.BSCAIML.2401</cp:lastModifiedBy>
  <cp:revision>21</cp:revision>
  <dcterms:created xsi:type="dcterms:W3CDTF">2026-10-01T12:02:02Z</dcterms:created>
  <dcterms:modified xsi:type="dcterms:W3CDTF">2026-10-01T14:52:53Z</dcterms:modified>
</cp:coreProperties>
</file>