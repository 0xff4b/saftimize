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6888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9E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mnt/user-data/outputs/saftimize-logo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" y="425196"/>
            <a:ext cx="329184" cy="2944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60120" y="444607"/>
            <a:ext cx="1371600" cy="253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/pitch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32004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45E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Data Engineering HS26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645E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Initial pitch, Timo Schlumpf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320040" y="35204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2A2A2A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See your usage.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A2A2A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Spot the spikes.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A2A2A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Shift the load.</a:t>
            </a:r>
            <a:endParaRPr lang="en-US" sz="2000" dirty="0"/>
          </a:p>
        </p:txBody>
      </p:sp>
      <p:pic>
        <p:nvPicPr>
          <p:cNvPr id="7" name="Image 1" descr="/home/claude/pa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82880"/>
            <a:ext cx="6217920" cy="4754880"/>
          </a:xfrm>
          <a:prstGeom prst="rect">
            <a:avLst/>
          </a:prstGeom>
        </p:spPr>
      </p:pic>
      <p:pic>
        <p:nvPicPr>
          <p:cNvPr id="8" name="Image 2" descr="/mnt/user-data/outputs/saftimize-logo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691640"/>
            <a:ext cx="822960" cy="73700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743200" y="2606040"/>
            <a:ext cx="621792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E9E0D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saftimize</a:t>
            </a:r>
            <a:endParaRPr lang="en-US" sz="4800" dirty="0"/>
          </a:p>
        </p:txBody>
      </p:sp>
      <p:sp>
        <p:nvSpPr>
          <p:cNvPr id="10" name="Text 5"/>
          <p:cNvSpPr txBox="1"/>
          <p:nvPr/>
        </p:nvSpPr>
        <p:spPr>
          <a:xfrm>
            <a:off x="2743200" y="33375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9BFB8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optimize your power usage</a:t>
            </a:r>
            <a:endParaRPr lang="en-US" sz="15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1E3719-A187-A67A-91C9-4390E212AD74}"/>
              </a:ext>
            </a:extLst>
          </p:cNvPr>
          <p:cNvSpPr/>
          <p:nvPr/>
        </p:nvSpPr>
        <p:spPr>
          <a:xfrm>
            <a:off x="320040" y="320040"/>
            <a:ext cx="502920" cy="5029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9D51D408-F236-C866-F3B1-C54CACF83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29768"/>
            <a:ext cx="329184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320040"/>
            <a:ext cx="502920" cy="5029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29768"/>
            <a:ext cx="329184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463778"/>
            <a:ext cx="535403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 dirty="0">
                <a:solidFill>
                  <a:srgbClr val="2A2A2A"/>
                </a:solidFill>
                <a:latin typeface="General Sans"/>
              </a:rPr>
              <a:t>/world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82880"/>
            <a:ext cx="6217920" cy="47548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54680" y="502920"/>
            <a:ext cx="25603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96D9A7"/>
                </a:solidFill>
                <a:latin typeface="General Sans"/>
              </a:rPr>
              <a:t>THE COMMON DENOMINATOR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841248"/>
            <a:ext cx="530352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0" dirty="0">
                <a:solidFill>
                  <a:srgbClr val="F4EFEA"/>
                </a:solidFill>
                <a:latin typeface="Instrument Serif"/>
              </a:rPr>
              <a:t>Everything runs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261872"/>
            <a:ext cx="530352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5200" b="0" dirty="0">
                <a:solidFill>
                  <a:srgbClr val="96D9A7"/>
                </a:solidFill>
                <a:latin typeface="Instrument Serif"/>
              </a:rPr>
              <a:t>power.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148840"/>
            <a:ext cx="521208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F4EFEA"/>
                </a:solidFill>
                <a:latin typeface="General Sans"/>
              </a:rPr>
              <a:t>Homes, trains, factories, servers.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2788920"/>
            <a:ext cx="2331720" cy="685800"/>
          </a:xfrm>
          <a:prstGeom prst="round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19272" y="3027444"/>
            <a:ext cx="129844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96D9A7"/>
                </a:solidFill>
                <a:latin typeface="General Sa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2999788"/>
            <a:ext cx="575479" cy="2000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A2A2A"/>
                </a:solidFill>
                <a:latin typeface="General Sans"/>
              </a:rPr>
              <a:t>Homes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2788920"/>
            <a:ext cx="2331720" cy="685800"/>
          </a:xfrm>
          <a:prstGeom prst="round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62472" y="3027444"/>
            <a:ext cx="153888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96D9A7"/>
                </a:solidFill>
                <a:latin typeface="General Sa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999788"/>
            <a:ext cx="822341" cy="2000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A2A2A"/>
                </a:solidFill>
                <a:latin typeface="General Sans"/>
              </a:rPr>
              <a:t>Transport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3730752"/>
            <a:ext cx="2331720" cy="685800"/>
          </a:xfrm>
          <a:prstGeom prst="round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19272" y="3969276"/>
            <a:ext cx="153888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96D9A7"/>
                </a:solidFill>
                <a:latin typeface="General San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3048" y="3941620"/>
            <a:ext cx="695703" cy="2000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A2A2A"/>
                </a:solidFill>
                <a:latin typeface="General Sans"/>
              </a:rPr>
              <a:t>Industry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3730752"/>
            <a:ext cx="2331720" cy="685800"/>
          </a:xfrm>
          <a:prstGeom prst="round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62472" y="3969276"/>
            <a:ext cx="158698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96D9A7"/>
                </a:solidFill>
                <a:latin typeface="General San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3941620"/>
            <a:ext cx="639599" cy="2000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A2A2A"/>
                </a:solidFill>
                <a:latin typeface="General Sans"/>
              </a:rPr>
              <a:t>Servers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4498848"/>
            <a:ext cx="53949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D6864"/>
                </a:solidFill>
                <a:latin typeface="General Sans"/>
              </a:rPr>
              <a:t>Take the power away and modern life stops.</a:t>
            </a:r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37138182-527D-0CB2-446F-4CF69EE61961}"/>
              </a:ext>
            </a:extLst>
          </p:cNvPr>
          <p:cNvSpPr txBox="1"/>
          <p:nvPr/>
        </p:nvSpPr>
        <p:spPr>
          <a:xfrm>
            <a:off x="320040" y="35204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2A2A2A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The Reason.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E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320040"/>
            <a:ext cx="502920" cy="5029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29768"/>
            <a:ext cx="329184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463778"/>
            <a:ext cx="500137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 dirty="0">
                <a:solidFill>
                  <a:srgbClr val="2A2A2A"/>
                </a:solidFill>
                <a:latin typeface="General Sans"/>
              </a:rPr>
              <a:t>/habit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82880"/>
            <a:ext cx="6217920" cy="4754880"/>
          </a:xfrm>
          <a:prstGeom prst="round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54680" y="502920"/>
            <a:ext cx="1828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6D6864"/>
                </a:solidFill>
                <a:latin typeface="General Sans"/>
              </a:rPr>
              <a:t>THE BLIND SPOT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868680"/>
            <a:ext cx="2194560" cy="548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0" dirty="0">
                <a:solidFill>
                  <a:srgbClr val="2A2A2A"/>
                </a:solidFill>
                <a:latin typeface="Instrument Serif"/>
              </a:rPr>
              <a:t>One bill.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353312"/>
            <a:ext cx="219456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D6864"/>
                </a:solidFill>
                <a:latin typeface="General Sans"/>
              </a:rPr>
              <a:t>per month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822960"/>
            <a:ext cx="27432" cy="1965960"/>
          </a:xfrm>
          <a:prstGeom prst="rect">
            <a:avLst/>
          </a:prstGeom>
          <a:solidFill>
            <a:srgbClr val="6D6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06440" y="502920"/>
            <a:ext cx="23774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A2A2A"/>
                </a:solidFill>
                <a:latin typeface="General Sans"/>
              </a:rPr>
              <a:t>WHAT ACTUALLY HAPPENS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868680"/>
            <a:ext cx="265176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2A2A2A"/>
                </a:solidFill>
                <a:latin typeface="Instrument Serif"/>
              </a:rPr>
              <a:t>Market prices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371600"/>
            <a:ext cx="265176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96D9A7"/>
                </a:solidFill>
                <a:latin typeface="Instrument Serif"/>
              </a:rPr>
              <a:t>move hour by hour.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3127247"/>
            <a:ext cx="5394960" cy="1072794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1548" y="3346704"/>
            <a:ext cx="8229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dirty="0">
                <a:solidFill>
                  <a:srgbClr val="96D9A7"/>
                </a:solidFill>
                <a:latin typeface="General Sans"/>
              </a:rPr>
              <a:t>CHEAP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337560"/>
            <a:ext cx="8229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F4EFEA"/>
                </a:solidFill>
                <a:latin typeface="General Sans"/>
              </a:rPr>
              <a:t>EXPENSIVE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315968"/>
            <a:ext cx="539496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D6864"/>
                </a:solidFill>
                <a:latin typeface="General Sans"/>
              </a:rPr>
              <a:t>Cheap and expensive hours differ within a single day. Most of us never look.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3840480"/>
            <a:ext cx="4983480" cy="13716"/>
          </a:xfrm>
          <a:prstGeom prst="rect">
            <a:avLst/>
          </a:prstGeom>
          <a:solidFill>
            <a:srgbClr val="6D6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" name="Connector 22"/>
          <p:cNvCxnSpPr/>
          <p:nvPr/>
        </p:nvCxnSpPr>
        <p:spPr>
          <a:xfrm flipV="1">
            <a:off x="3383280" y="3383280"/>
            <a:ext cx="1691640" cy="365759"/>
          </a:xfrm>
          <a:prstGeom prst="line">
            <a:avLst/>
          </a:prstGeom>
          <a:ln w="38100">
            <a:solidFill>
              <a:srgbClr val="96D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074920" y="3310128"/>
            <a:ext cx="1645920" cy="73152"/>
          </a:xfrm>
          <a:prstGeom prst="line">
            <a:avLst/>
          </a:prstGeom>
          <a:ln w="38100">
            <a:solidFill>
              <a:srgbClr val="96D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720840" y="3310128"/>
            <a:ext cx="1508760" cy="393192"/>
          </a:xfrm>
          <a:prstGeom prst="line">
            <a:avLst/>
          </a:prstGeom>
          <a:ln w="38100">
            <a:solidFill>
              <a:srgbClr val="96D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3332988" y="3698748"/>
            <a:ext cx="100584" cy="100584"/>
          </a:xfrm>
          <a:prstGeom prst="ellipse">
            <a:avLst/>
          </a:prstGeom>
          <a:solidFill>
            <a:srgbClr val="96D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024628" y="3332988"/>
            <a:ext cx="100584" cy="100584"/>
          </a:xfrm>
          <a:prstGeom prst="ellipse">
            <a:avLst/>
          </a:prstGeom>
          <a:solidFill>
            <a:srgbClr val="96D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670548" y="3259836"/>
            <a:ext cx="100584" cy="100584"/>
          </a:xfrm>
          <a:prstGeom prst="ellipse">
            <a:avLst/>
          </a:prstGeom>
          <a:solidFill>
            <a:srgbClr val="96D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179308" y="3653027"/>
            <a:ext cx="100584" cy="100584"/>
          </a:xfrm>
          <a:prstGeom prst="ellipse">
            <a:avLst/>
          </a:prstGeom>
          <a:solidFill>
            <a:srgbClr val="96D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82112" y="3904487"/>
            <a:ext cx="4023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>
                <a:solidFill>
                  <a:srgbClr val="F4EFEA"/>
                </a:solidFill>
                <a:latin typeface="Instrument Serif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3752" y="3904487"/>
            <a:ext cx="4023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>
                <a:solidFill>
                  <a:srgbClr val="F4EFEA"/>
                </a:solidFill>
                <a:latin typeface="Instrument Serif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9672" y="3904487"/>
            <a:ext cx="4023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>
                <a:solidFill>
                  <a:srgbClr val="F4EFEA"/>
                </a:solidFill>
                <a:latin typeface="Instrument Serif"/>
              </a:rPr>
              <a:t>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28431" y="3904487"/>
            <a:ext cx="4023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>
                <a:solidFill>
                  <a:srgbClr val="F4EFEA"/>
                </a:solidFill>
                <a:latin typeface="Instrument Serif"/>
              </a:rPr>
              <a:t>24</a:t>
            </a: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D3E973C7-DD62-2608-CC73-487BF4AF3E17}"/>
              </a:ext>
            </a:extLst>
          </p:cNvPr>
          <p:cNvSpPr txBox="1"/>
          <p:nvPr/>
        </p:nvSpPr>
        <p:spPr>
          <a:xfrm>
            <a:off x="320040" y="35204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2A2A2A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We rarely plan around it.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E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320040"/>
            <a:ext cx="502920" cy="5029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29768"/>
            <a:ext cx="329184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463778"/>
            <a:ext cx="586699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 dirty="0">
                <a:solidFill>
                  <a:srgbClr val="2A2A2A"/>
                </a:solidFill>
                <a:latin typeface="General Sans"/>
              </a:rPr>
              <a:t>/prices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82880"/>
            <a:ext cx="6217920" cy="47548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54680" y="502920"/>
            <a:ext cx="1828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1" dirty="0">
                <a:solidFill>
                  <a:srgbClr val="96D9A7"/>
                </a:solidFill>
                <a:latin typeface="General Sans"/>
              </a:rPr>
              <a:t>EXTERNAL SHOCKS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914400"/>
            <a:ext cx="1664208" cy="3063240"/>
          </a:xfrm>
          <a:prstGeom prst="roundRect">
            <a:avLst/>
          </a:prstGeom>
          <a:solidFill>
            <a:srgbClr val="96D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19272" y="1115568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2A2A2A"/>
                </a:solidFill>
                <a:latin typeface="General Sa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1481328"/>
            <a:ext cx="1325880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A2A2A"/>
                </a:solidFill>
                <a:latin typeface="Instrument Serif"/>
              </a:rPr>
              <a:t>War and
sanctions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9273" y="2331720"/>
            <a:ext cx="1325880" cy="807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6D6864"/>
                </a:solidFill>
                <a:latin typeface="General Sans"/>
              </a:rPr>
              <a:t>The 2022 invasion of Ukraine pushed European gas and power prices to record highs.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10912" y="914400"/>
            <a:ext cx="1664208" cy="3063240"/>
          </a:xfrm>
          <a:prstGeom prst="round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75504" y="1115568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2A2A2A"/>
                </a:solidFill>
                <a:latin typeface="General San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5504" y="1481328"/>
            <a:ext cx="1325880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A2A2A"/>
                </a:solidFill>
                <a:latin typeface="Instrument Serif"/>
              </a:rPr>
              <a:t>Weather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4" y="2331720"/>
            <a:ext cx="1163303" cy="807913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050" b="0" dirty="0">
                <a:solidFill>
                  <a:srgbClr val="6D6864"/>
                </a:solidFill>
                <a:latin typeface="General Sans"/>
              </a:rPr>
              <a:t>Cold snaps, heat waves, low wind and dry rivers shift supply and demand.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7144" y="914400"/>
            <a:ext cx="1664208" cy="3063240"/>
          </a:xfrm>
          <a:prstGeom prst="round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31736" y="1115568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2A2A2A"/>
                </a:solidFill>
                <a:latin typeface="General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31736" y="1481328"/>
            <a:ext cx="1325880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A2A2A"/>
                </a:solidFill>
                <a:latin typeface="Instrument Serif"/>
              </a:rPr>
              <a:t>Outages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1736" y="2331720"/>
            <a:ext cx="1227311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6D6864"/>
                </a:solidFill>
                <a:latin typeface="General Sans"/>
              </a:rPr>
              <a:t>Plant or grid outages can tighten supply within hours.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4297680"/>
            <a:ext cx="539496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4EFEA"/>
                </a:solidFill>
                <a:latin typeface="General Sans"/>
              </a:rPr>
              <a:t>Switzerland trades power with its neighbours, so these shocks reach Swiss prices too.</a:t>
            </a:r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03571E30-EA4A-09C5-F61A-2EB10EC2170C}"/>
              </a:ext>
            </a:extLst>
          </p:cNvPr>
          <p:cNvSpPr txBox="1"/>
          <p:nvPr/>
        </p:nvSpPr>
        <p:spPr>
          <a:xfrm>
            <a:off x="320040" y="35204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2A2A2A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The price moves, always.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320040"/>
            <a:ext cx="502920" cy="5029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29768"/>
            <a:ext cx="329184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463778"/>
            <a:ext cx="827150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 dirty="0">
                <a:solidFill>
                  <a:srgbClr val="2A2A2A"/>
                </a:solidFill>
                <a:latin typeface="General Sans"/>
              </a:rPr>
              <a:t>/use-case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82880"/>
            <a:ext cx="6217920" cy="4754880"/>
          </a:xfrm>
          <a:prstGeom prst="round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54680" y="502920"/>
            <a:ext cx="30175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0" b="1" dirty="0">
                <a:solidFill>
                  <a:srgbClr val="6D6864"/>
                </a:solidFill>
                <a:latin typeface="General Sans"/>
              </a:rPr>
              <a:t>FROM PERSON → GOAL → PRODUCT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005840"/>
            <a:ext cx="41148" cy="2880360"/>
          </a:xfrm>
          <a:prstGeom prst="rect">
            <a:avLst/>
          </a:prstGeom>
          <a:solidFill>
            <a:srgbClr val="96D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182112" y="914400"/>
            <a:ext cx="475488" cy="475488"/>
          </a:xfrm>
          <a:prstGeom prst="ellipse">
            <a:avLst/>
          </a:prstGeom>
          <a:solidFill>
            <a:srgbClr val="96D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82112" y="987552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2A2A2A"/>
                </a:solidFill>
                <a:latin typeface="Instrument Serif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896112"/>
            <a:ext cx="182880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2A2A2A"/>
                </a:solidFill>
                <a:latin typeface="Instrument Serif"/>
              </a:rPr>
              <a:t>Who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1298448"/>
            <a:ext cx="452628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D6864"/>
                </a:solidFill>
                <a:latin typeface="General Sans"/>
              </a:rPr>
              <a:t>Me and my family, at home</a:t>
            </a:r>
          </a:p>
        </p:txBody>
      </p:sp>
      <p:sp>
        <p:nvSpPr>
          <p:cNvPr id="13" name="Oval 12"/>
          <p:cNvSpPr/>
          <p:nvPr/>
        </p:nvSpPr>
        <p:spPr>
          <a:xfrm>
            <a:off x="3182112" y="1828800"/>
            <a:ext cx="475488" cy="475488"/>
          </a:xfrm>
          <a:prstGeom prst="ellipse">
            <a:avLst/>
          </a:prstGeom>
          <a:solidFill>
            <a:srgbClr val="96D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82112" y="1901952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2A2A2A"/>
                </a:solidFill>
                <a:latin typeface="Instrument Serif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1810512"/>
            <a:ext cx="182880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2A2A2A"/>
                </a:solidFill>
                <a:latin typeface="Instrument Serif"/>
              </a:rPr>
              <a:t>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212848"/>
            <a:ext cx="4467386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D6864"/>
                </a:solidFill>
                <a:latin typeface="General Sans"/>
              </a:rPr>
              <a:t>See our usage, spot expensive hours ahead, shift flexible loads like laundry</a:t>
            </a:r>
          </a:p>
        </p:txBody>
      </p:sp>
      <p:sp>
        <p:nvSpPr>
          <p:cNvPr id="17" name="Oval 16"/>
          <p:cNvSpPr/>
          <p:nvPr/>
        </p:nvSpPr>
        <p:spPr>
          <a:xfrm>
            <a:off x="3182112" y="2907792"/>
            <a:ext cx="475488" cy="475488"/>
          </a:xfrm>
          <a:prstGeom prst="ellipse">
            <a:avLst/>
          </a:prstGeom>
          <a:solidFill>
            <a:srgbClr val="96D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182112" y="2980944"/>
            <a:ext cx="475488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2A2A2A"/>
                </a:solidFill>
                <a:latin typeface="Instrument Serif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889504"/>
            <a:ext cx="182880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2A2A2A"/>
                </a:solidFill>
                <a:latin typeface="Instrument Serif"/>
              </a:rPr>
              <a:t>Data 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291840"/>
            <a:ext cx="4389895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6D6864"/>
                </a:solidFill>
                <a:latin typeface="General Sans"/>
              </a:rPr>
              <a:t>Curated hourly table, dashboard, price forecast and optimization agent (stretch)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343400"/>
            <a:ext cx="539496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D6864"/>
                </a:solidFill>
                <a:latin typeface="General Sans"/>
              </a:rPr>
              <a:t>Price is a wholesale market signal, not our retail bill. The dashboard will say so.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54680" y="4160520"/>
            <a:ext cx="5394960" cy="50292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154680" y="4329739"/>
            <a:ext cx="539496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dirty="0">
                <a:solidFill>
                  <a:srgbClr val="96D9A7"/>
                </a:solidFill>
                <a:latin typeface="General Sans"/>
              </a:rPr>
              <a:t>HOURLY LOAD + PRICE  →  DASHBOARD  →  PRICE FORECAST</a:t>
            </a:r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5430C731-7F49-E7E7-BCA2-B4879E74439E}"/>
              </a:ext>
            </a:extLst>
          </p:cNvPr>
          <p:cNvSpPr txBox="1"/>
          <p:nvPr/>
        </p:nvSpPr>
        <p:spPr>
          <a:xfrm>
            <a:off x="320040" y="35204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2A2A2A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The </a:t>
            </a:r>
            <a:r>
              <a:rPr lang="en-US" sz="2000" dirty="0" err="1">
                <a:solidFill>
                  <a:srgbClr val="2A2A2A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usecase</a:t>
            </a:r>
            <a:r>
              <a:rPr lang="en-US" sz="2000" dirty="0">
                <a:solidFill>
                  <a:srgbClr val="2A2A2A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320040"/>
            <a:ext cx="502920" cy="5029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463778"/>
            <a:ext cx="16459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dirty="0">
                <a:solidFill>
                  <a:srgbClr val="2A2A2A"/>
                </a:solidFill>
                <a:latin typeface="General Sans"/>
              </a:rPr>
              <a:t>/source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82880"/>
            <a:ext cx="6217920" cy="475488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54680" y="50292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dirty="0">
                <a:solidFill>
                  <a:srgbClr val="96D9A7"/>
                </a:solidFill>
                <a:latin typeface="General Sans"/>
              </a:rPr>
              <a:t>THE INPUT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740664"/>
            <a:ext cx="2560320" cy="1417320"/>
          </a:xfrm>
          <a:prstGeom prst="round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64992" y="89611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6D6864"/>
                </a:solidFill>
                <a:latin typeface="General Sa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1170432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0" dirty="0">
                <a:solidFill>
                  <a:srgbClr val="2A2A2A"/>
                </a:solidFill>
                <a:latin typeface="Instrument Serif"/>
              </a:rPr>
              <a:t>ENTSO-E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1563624"/>
            <a:ext cx="2057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dirty="0">
                <a:solidFill>
                  <a:srgbClr val="6D6864"/>
                </a:solidFill>
                <a:latin typeface="General Sans"/>
              </a:rPr>
              <a:t>Transparency Platform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740664"/>
            <a:ext cx="2560320" cy="1417320"/>
          </a:xfrm>
          <a:prstGeom prst="roundRect">
            <a:avLst/>
          </a:prstGeom>
          <a:solidFill>
            <a:srgbClr val="96D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53912" y="89611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2A2A2A"/>
                </a:solidFill>
                <a:latin typeface="General San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1170432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0">
                <a:solidFill>
                  <a:srgbClr val="2A2A2A"/>
                </a:solidFill>
                <a:latin typeface="Instrument Serif"/>
              </a:rPr>
              <a:t>Open-Meteo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1563624"/>
            <a:ext cx="2057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2A2A2A"/>
                </a:solidFill>
                <a:latin typeface="General Sans"/>
              </a:rPr>
              <a:t>Weather Forecast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54680" y="2313432"/>
            <a:ext cx="5349240" cy="1783080"/>
          </a:xfrm>
          <a:prstGeom prst="round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64992" y="249631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6D6864"/>
                </a:solidFill>
                <a:latin typeface="General Sans"/>
              </a:rPr>
              <a:t>DATASET / 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2788920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2A2A2A"/>
                </a:solidFill>
                <a:latin typeface="Instrument Serif"/>
              </a:rPr>
              <a:t>ENTSO-E actual 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3081528"/>
            <a:ext cx="2331720" cy="692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dirty="0" err="1">
                <a:solidFill>
                  <a:srgbClr val="2A2A2A"/>
                </a:solidFill>
                <a:latin typeface="General Sans"/>
              </a:rPr>
              <a:t>DateTime</a:t>
            </a:r>
            <a:r>
              <a:rPr sz="900" b="0" dirty="0">
                <a:solidFill>
                  <a:srgbClr val="2A2A2A"/>
                </a:solidFill>
                <a:latin typeface="General Sans"/>
              </a:rPr>
              <a:t>(UTC)
</a:t>
            </a:r>
            <a:r>
              <a:rPr sz="900" b="0" dirty="0" err="1">
                <a:solidFill>
                  <a:srgbClr val="2A2A2A"/>
                </a:solidFill>
                <a:latin typeface="General Sans"/>
              </a:rPr>
              <a:t>ResolutionCode</a:t>
            </a:r>
            <a:r>
              <a:rPr sz="900" b="0" dirty="0">
                <a:solidFill>
                  <a:srgbClr val="2A2A2A"/>
                </a:solidFill>
                <a:latin typeface="General Sans"/>
              </a:rPr>
              <a:t> · </a:t>
            </a:r>
            <a:r>
              <a:rPr sz="900" b="0" dirty="0" err="1">
                <a:solidFill>
                  <a:srgbClr val="2A2A2A"/>
                </a:solidFill>
                <a:latin typeface="General Sans"/>
              </a:rPr>
              <a:t>AreaCode</a:t>
            </a:r>
            <a:r>
              <a:rPr sz="900" b="0" dirty="0">
                <a:solidFill>
                  <a:srgbClr val="2A2A2A"/>
                </a:solidFill>
                <a:latin typeface="General Sans"/>
              </a:rPr>
              <a:t> · </a:t>
            </a:r>
            <a:r>
              <a:rPr sz="900" b="0" dirty="0" err="1">
                <a:solidFill>
                  <a:srgbClr val="2A2A2A"/>
                </a:solidFill>
                <a:latin typeface="General Sans"/>
              </a:rPr>
              <a:t>AreaDisplayName</a:t>
            </a:r>
            <a:r>
              <a:rPr sz="900" b="0" dirty="0">
                <a:solidFill>
                  <a:srgbClr val="2A2A2A"/>
                </a:solidFill>
                <a:latin typeface="General Sans"/>
              </a:rPr>
              <a:t>
</a:t>
            </a:r>
            <a:r>
              <a:rPr sz="900" b="0" dirty="0" err="1">
                <a:solidFill>
                  <a:srgbClr val="2A2A2A"/>
                </a:solidFill>
                <a:latin typeface="General Sans"/>
              </a:rPr>
              <a:t>AreaTypeCode</a:t>
            </a:r>
            <a:r>
              <a:rPr sz="900" b="0" dirty="0">
                <a:solidFill>
                  <a:srgbClr val="2A2A2A"/>
                </a:solidFill>
                <a:latin typeface="General Sans"/>
              </a:rPr>
              <a:t> · </a:t>
            </a:r>
            <a:r>
              <a:rPr sz="900" b="0" dirty="0" err="1">
                <a:solidFill>
                  <a:srgbClr val="2A2A2A"/>
                </a:solidFill>
                <a:latin typeface="General Sans"/>
              </a:rPr>
              <a:t>AreaMapCode</a:t>
            </a:r>
            <a:r>
              <a:rPr sz="900" b="0" dirty="0">
                <a:solidFill>
                  <a:srgbClr val="2A2A2A"/>
                </a:solidFill>
                <a:latin typeface="General Sans"/>
              </a:rPr>
              <a:t>
</a:t>
            </a:r>
            <a:r>
              <a:rPr sz="900" b="0" dirty="0" err="1">
                <a:solidFill>
                  <a:srgbClr val="2A2A2A"/>
                </a:solidFill>
                <a:latin typeface="General Sans"/>
              </a:rPr>
              <a:t>TotalLoad</a:t>
            </a:r>
            <a:r>
              <a:rPr sz="900" b="0" dirty="0">
                <a:solidFill>
                  <a:srgbClr val="2A2A2A"/>
                </a:solidFill>
                <a:latin typeface="General Sans"/>
              </a:rPr>
              <a:t>[MW] · </a:t>
            </a:r>
            <a:r>
              <a:rPr sz="900" b="0" dirty="0" err="1">
                <a:solidFill>
                  <a:srgbClr val="2A2A2A"/>
                </a:solidFill>
                <a:latin typeface="General Sans"/>
              </a:rPr>
              <a:t>UpdateTime</a:t>
            </a:r>
            <a:r>
              <a:rPr sz="900" b="0" dirty="0">
                <a:solidFill>
                  <a:srgbClr val="2A2A2A"/>
                </a:solidFill>
                <a:latin typeface="General Sans"/>
              </a:rPr>
              <a:t>(UTC)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2788920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2A2A2A"/>
                </a:solidFill>
                <a:latin typeface="Instrument Serif"/>
              </a:rPr>
              <a:t>ENTSO-E day-ahead price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98464" y="3081528"/>
            <a:ext cx="2212848" cy="692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2A2A2A"/>
                </a:solidFill>
                <a:latin typeface="General Sans"/>
              </a:rPr>
              <a:t>InstanceCode · DateTime(UTC) · ResolutionCode
AreaCode · ContractType · Sequence
Price[Currency/MWh] · Currency · UpdateTime(UTC)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54680" y="4247930"/>
            <a:ext cx="5349240" cy="310896"/>
          </a:xfrm>
          <a:prstGeom prst="roundRect">
            <a:avLst/>
          </a:prstGeom>
          <a:solidFill>
            <a:srgbClr val="96D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73552" y="4321082"/>
            <a:ext cx="5102352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dirty="0">
                <a:solidFill>
                  <a:srgbClr val="2A2A2A"/>
                </a:solidFill>
                <a:latin typeface="General Sans"/>
              </a:rPr>
              <a:t>Open-</a:t>
            </a:r>
            <a:r>
              <a:rPr sz="800" dirty="0" err="1">
                <a:solidFill>
                  <a:srgbClr val="2A2A2A"/>
                </a:solidFill>
                <a:latin typeface="General Sans"/>
              </a:rPr>
              <a:t>Meteo</a:t>
            </a:r>
            <a:r>
              <a:rPr sz="800" dirty="0">
                <a:solidFill>
                  <a:srgbClr val="2A2A2A"/>
                </a:solidFill>
                <a:latin typeface="General Sans"/>
              </a:rPr>
              <a:t> JSON  ·  </a:t>
            </a:r>
            <a:r>
              <a:rPr sz="800" dirty="0" err="1">
                <a:solidFill>
                  <a:srgbClr val="2A2A2A"/>
                </a:solidFill>
                <a:latin typeface="General Sans"/>
              </a:rPr>
              <a:t>hourly.time</a:t>
            </a:r>
            <a:r>
              <a:rPr sz="800" dirty="0">
                <a:solidFill>
                  <a:srgbClr val="2A2A2A"/>
                </a:solidFill>
                <a:latin typeface="General Sans"/>
              </a:rPr>
              <a:t>[] + selected variables[]  ·  </a:t>
            </a:r>
            <a:r>
              <a:rPr sz="800" dirty="0" err="1">
                <a:solidFill>
                  <a:srgbClr val="2A2A2A"/>
                </a:solidFill>
                <a:latin typeface="General Sans"/>
              </a:rPr>
              <a:t>hourly_units</a:t>
            </a:r>
            <a:r>
              <a:rPr sz="800" dirty="0">
                <a:solidFill>
                  <a:srgbClr val="2A2A2A"/>
                </a:solidFill>
                <a:latin typeface="General Sans"/>
              </a:rPr>
              <a:t>{}  ·  latitude / longitude / </a:t>
            </a:r>
            <a:r>
              <a:rPr sz="800" dirty="0" err="1">
                <a:solidFill>
                  <a:srgbClr val="2A2A2A"/>
                </a:solidFill>
                <a:latin typeface="General Sans"/>
              </a:rPr>
              <a:t>timezone</a:t>
            </a:r>
            <a:endParaRPr sz="800" dirty="0">
              <a:solidFill>
                <a:srgbClr val="2A2A2A"/>
              </a:solidFill>
              <a:latin typeface="General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54680" y="4604546"/>
            <a:ext cx="53492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10" b="0">
                <a:solidFill>
                  <a:srgbClr val="F4EFEA"/>
                </a:solidFill>
                <a:latin typeface="General Sans"/>
              </a:rPr>
              <a:t>Daily batch pull  ·  short lookback protects against late / revised source values.</a:t>
            </a:r>
          </a:p>
        </p:txBody>
      </p:sp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F17F380E-4185-1612-9EA5-7955E1F13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29768"/>
            <a:ext cx="329184" cy="292608"/>
          </a:xfrm>
          <a:prstGeom prst="rect">
            <a:avLst/>
          </a:prstGeom>
        </p:spPr>
      </p:pic>
      <p:sp>
        <p:nvSpPr>
          <p:cNvPr id="26" name="Text 3">
            <a:extLst>
              <a:ext uri="{FF2B5EF4-FFF2-40B4-BE49-F238E27FC236}">
                <a16:creationId xmlns:a16="http://schemas.microsoft.com/office/drawing/2014/main" id="{D0B42B05-E569-6510-0688-20F8027B2692}"/>
              </a:ext>
            </a:extLst>
          </p:cNvPr>
          <p:cNvSpPr txBox="1"/>
          <p:nvPr/>
        </p:nvSpPr>
        <p:spPr>
          <a:xfrm>
            <a:off x="320040" y="35204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2A2A2A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Data Sources.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E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320040"/>
            <a:ext cx="502920" cy="5029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463778"/>
            <a:ext cx="16459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dirty="0">
                <a:solidFill>
                  <a:srgbClr val="2A2A2A"/>
                </a:solidFill>
                <a:latin typeface="General Sans"/>
              </a:rPr>
              <a:t>/architecture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82880"/>
            <a:ext cx="6217920" cy="4754880"/>
          </a:xfrm>
          <a:prstGeom prst="round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54680" y="50292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6D6864"/>
                </a:solidFill>
                <a:latin typeface="General Sans"/>
              </a:rPr>
              <a:t>THE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841248"/>
            <a:ext cx="5349240" cy="457200"/>
          </a:xfrm>
          <a:prstGeom prst="roundRect">
            <a:avLst/>
          </a:prstGeom>
          <a:solidFill>
            <a:srgbClr val="E9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64992" y="924602"/>
            <a:ext cx="1325880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dirty="0">
                <a:latin typeface="Instrument Serif"/>
              </a:rPr>
              <a:t>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991429"/>
            <a:ext cx="3520440" cy="1568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0" dirty="0">
                <a:latin typeface="General Sans"/>
              </a:rPr>
              <a:t>ENTSO-E + Open-</a:t>
            </a:r>
            <a:r>
              <a:rPr sz="1019" b="0" dirty="0" err="1">
                <a:latin typeface="General Sans"/>
              </a:rPr>
              <a:t>Meteo</a:t>
            </a:r>
            <a:r>
              <a:rPr sz="1019" b="0" dirty="0">
                <a:latin typeface="General Sans"/>
              </a:rPr>
              <a:t> (Zug)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687568" y="1316736"/>
            <a:ext cx="210312" cy="137160"/>
          </a:xfrm>
          <a:prstGeom prst="downArrow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154680" y="1481328"/>
            <a:ext cx="5349240" cy="457200"/>
          </a:xfrm>
          <a:prstGeom prst="roundRect">
            <a:avLst/>
          </a:prstGeom>
          <a:solidFill>
            <a:srgbClr val="E9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64992" y="1564682"/>
            <a:ext cx="1325880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dirty="0">
                <a:latin typeface="Instrument Serif"/>
              </a:rPr>
              <a:t>Ingestion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1631509"/>
            <a:ext cx="3520440" cy="1568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0" dirty="0">
                <a:latin typeface="General Sans"/>
              </a:rPr>
              <a:t>Python module per source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687568" y="1956816"/>
            <a:ext cx="210312" cy="137160"/>
          </a:xfrm>
          <a:prstGeom prst="downArrow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154680" y="2121408"/>
            <a:ext cx="5349240" cy="457200"/>
          </a:xfrm>
          <a:prstGeom prst="roundRect">
            <a:avLst/>
          </a:prstGeom>
          <a:solidFill>
            <a:srgbClr val="E9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64992" y="2204762"/>
            <a:ext cx="1325880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>
                <a:latin typeface="Instrument Serif"/>
              </a:rPr>
              <a:t>Raw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2271589"/>
            <a:ext cx="3520440" cy="1568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0" dirty="0">
                <a:latin typeface="General Sans"/>
              </a:rPr>
              <a:t>Postgres → later GCS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687568" y="2596896"/>
            <a:ext cx="210312" cy="137160"/>
          </a:xfrm>
          <a:prstGeom prst="downArrow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154680" y="2761488"/>
            <a:ext cx="5349240" cy="457200"/>
          </a:xfrm>
          <a:prstGeom prst="roundRect">
            <a:avLst/>
          </a:prstGeom>
          <a:solidFill>
            <a:srgbClr val="E9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364992" y="2844842"/>
            <a:ext cx="1325880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dirty="0">
                <a:latin typeface="Instrument Serif"/>
              </a:rPr>
              <a:t>Transform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2911669"/>
            <a:ext cx="3520440" cy="1568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0" dirty="0">
                <a:latin typeface="General Sans"/>
              </a:rPr>
              <a:t>Clean · align · join · model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687568" y="3236976"/>
            <a:ext cx="210312" cy="137160"/>
          </a:xfrm>
          <a:prstGeom prst="downArrow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154680" y="3401568"/>
            <a:ext cx="5349240" cy="45720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64992" y="3484922"/>
            <a:ext cx="1325880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dirty="0">
                <a:solidFill>
                  <a:srgbClr val="F4EFEA"/>
                </a:solidFill>
                <a:latin typeface="Instrument Serif"/>
              </a:rPr>
              <a:t>Curated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3551749"/>
            <a:ext cx="3520440" cy="15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9" dirty="0">
                <a:solidFill>
                  <a:srgbClr val="F4EFEA"/>
                </a:solidFill>
                <a:latin typeface="General Sans"/>
              </a:rPr>
              <a:t>Postgres → later </a:t>
            </a:r>
            <a:r>
              <a:rPr sz="1019" dirty="0" err="1">
                <a:solidFill>
                  <a:srgbClr val="F4EFEA"/>
                </a:solidFill>
                <a:latin typeface="General Sans"/>
              </a:rPr>
              <a:t>BigQuery</a:t>
            </a:r>
            <a:endParaRPr sz="1019" dirty="0">
              <a:solidFill>
                <a:srgbClr val="F4EFEA"/>
              </a:solidFill>
              <a:latin typeface="General San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154680" y="4041648"/>
            <a:ext cx="5349240" cy="393192"/>
          </a:xfrm>
          <a:prstGeom prst="roundRect">
            <a:avLst/>
          </a:prstGeom>
          <a:solidFill>
            <a:srgbClr val="96D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154680" y="4142232"/>
            <a:ext cx="534924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dirty="0">
                <a:solidFill>
                  <a:srgbClr val="2A2A2A"/>
                </a:solidFill>
                <a:latin typeface="General Sans"/>
              </a:rPr>
              <a:t>ORCHESTRATOR  ·  daily schedule  ·  retries  ·  backfills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4992" y="4532415"/>
            <a:ext cx="5943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30" b="1" dirty="0">
                <a:solidFill>
                  <a:srgbClr val="6D6864"/>
                </a:solidFill>
                <a:latin typeface="General Sans"/>
              </a:rPr>
              <a:t>MIDTERM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59351" y="4532415"/>
            <a:ext cx="16916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9" b="0" dirty="0">
                <a:solidFill>
                  <a:srgbClr val="2A2A2A"/>
                </a:solidFill>
                <a:latin typeface="General Sans"/>
              </a:rPr>
              <a:t>Docker Compose + PostgreSQL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4532415"/>
            <a:ext cx="502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30" b="1">
                <a:solidFill>
                  <a:srgbClr val="6D6864"/>
                </a:solidFill>
                <a:latin typeface="General Sans"/>
              </a:rPr>
              <a:t>FINAL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18504" y="4532415"/>
            <a:ext cx="20574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9" b="0" dirty="0">
                <a:solidFill>
                  <a:srgbClr val="2A2A2A"/>
                </a:solidFill>
                <a:latin typeface="General Sans"/>
              </a:rPr>
              <a:t>Terraform + GCS + </a:t>
            </a:r>
            <a:r>
              <a:rPr sz="869" b="0" dirty="0" err="1">
                <a:solidFill>
                  <a:srgbClr val="2A2A2A"/>
                </a:solidFill>
                <a:latin typeface="General Sans"/>
              </a:rPr>
              <a:t>BigQuery</a:t>
            </a:r>
            <a:endParaRPr sz="869" b="0" dirty="0">
              <a:solidFill>
                <a:srgbClr val="2A2A2A"/>
              </a:solidFill>
              <a:latin typeface="General San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54680" y="4730267"/>
            <a:ext cx="53492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60" b="0" dirty="0">
                <a:solidFill>
                  <a:srgbClr val="6D6864"/>
                </a:solidFill>
                <a:latin typeface="General Sans"/>
              </a:rPr>
              <a:t>Raw stays raw. Transformations create the curated layer.</a:t>
            </a:r>
          </a:p>
        </p:txBody>
      </p:sp>
      <p:pic>
        <p:nvPicPr>
          <p:cNvPr id="34" name="Picture 33" descr="image.png">
            <a:extLst>
              <a:ext uri="{FF2B5EF4-FFF2-40B4-BE49-F238E27FC236}">
                <a16:creationId xmlns:a16="http://schemas.microsoft.com/office/drawing/2014/main" id="{64870B9B-59FE-06F3-E26C-830B210D5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29768"/>
            <a:ext cx="329184" cy="292608"/>
          </a:xfrm>
          <a:prstGeom prst="rect">
            <a:avLst/>
          </a:prstGeom>
        </p:spPr>
      </p:pic>
      <p:sp>
        <p:nvSpPr>
          <p:cNvPr id="35" name="Text 3">
            <a:extLst>
              <a:ext uri="{FF2B5EF4-FFF2-40B4-BE49-F238E27FC236}">
                <a16:creationId xmlns:a16="http://schemas.microsoft.com/office/drawing/2014/main" id="{698B3FCC-1BBA-CE8D-32D0-02E636ED9E35}"/>
              </a:ext>
            </a:extLst>
          </p:cNvPr>
          <p:cNvSpPr txBox="1"/>
          <p:nvPr/>
        </p:nvSpPr>
        <p:spPr>
          <a:xfrm>
            <a:off x="320040" y="35204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2A2A2A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Architecture V0.1.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E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320040"/>
            <a:ext cx="502920" cy="5029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463778"/>
            <a:ext cx="16459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dirty="0">
                <a:solidFill>
                  <a:srgbClr val="2A2A2A"/>
                </a:solidFill>
                <a:latin typeface="General Sans"/>
              </a:rPr>
              <a:t>/plan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82880"/>
            <a:ext cx="6217920" cy="4754880"/>
          </a:xfrm>
          <a:prstGeom prst="round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54680" y="50292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6D6864"/>
                </a:solidFill>
                <a:latin typeface="General Sans"/>
              </a:rPr>
              <a:t>EXECUTION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786384"/>
            <a:ext cx="2578608" cy="1664208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55848" y="960119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>
                <a:solidFill>
                  <a:srgbClr val="F4EFEA"/>
                </a:solidFill>
                <a:latin typeface="Instrument Serif"/>
              </a:rPr>
              <a:t>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5848" y="1490472"/>
            <a:ext cx="214884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4EFEA"/>
                </a:solidFill>
                <a:latin typeface="General Sans"/>
              </a:rPr>
              <a:t>Daily incremental load with short lookback
Idempotent loads, safe to rerun
Retry with backoff, then fail loudly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786384"/>
            <a:ext cx="2560320" cy="1664208"/>
          </a:xfrm>
          <a:prstGeom prst="roundRect">
            <a:avLst/>
          </a:prstGeom>
          <a:solidFill>
            <a:srgbClr val="E9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0488" y="960119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>
                <a:solidFill>
                  <a:srgbClr val="2A2A2A"/>
                </a:solidFill>
                <a:latin typeface="Instrument Serif"/>
              </a:rPr>
              <a:t>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1490472"/>
            <a:ext cx="205740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D6864"/>
                </a:solidFill>
                <a:latin typeface="General Sans"/>
              </a:rPr>
              <a:t>Raw data kept unchanged
Postgres locally → GCS + BigQuery for final
Partition by date, cluster by series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57175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6D6864"/>
                </a:solidFill>
                <a:latin typeface="General Sans"/>
              </a:rPr>
              <a:t>MILESTONES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2882646"/>
            <a:ext cx="1508760" cy="804672"/>
          </a:xfrm>
          <a:prstGeom prst="roundRect">
            <a:avLst/>
          </a:prstGeom>
          <a:solidFill>
            <a:srgbClr val="E9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19272" y="302895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0">
                <a:solidFill>
                  <a:srgbClr val="2A2A2A"/>
                </a:solidFill>
                <a:latin typeface="Instrument Serif"/>
              </a:rPr>
              <a:t>Pitch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2" y="3403854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90" b="0">
                <a:solidFill>
                  <a:srgbClr val="2A2A2A"/>
                </a:solidFill>
                <a:latin typeface="General Sans"/>
              </a:rPr>
              <a:t>Week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65192" y="2882646"/>
            <a:ext cx="1508760" cy="804672"/>
          </a:xfrm>
          <a:prstGeom prst="roundRect">
            <a:avLst/>
          </a:prstGeom>
          <a:solidFill>
            <a:srgbClr val="E9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9783" y="302895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0">
                <a:solidFill>
                  <a:srgbClr val="2A2A2A"/>
                </a:solidFill>
                <a:latin typeface="Instrument Serif"/>
              </a:rPr>
              <a:t>Midterm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9783" y="3403854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90" b="0">
                <a:solidFill>
                  <a:srgbClr val="2A2A2A"/>
                </a:solidFill>
                <a:latin typeface="General Sans"/>
              </a:rPr>
              <a:t>Repo due 22 Oct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75704" y="2882646"/>
            <a:ext cx="1508760" cy="804672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0296" y="302895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0">
                <a:solidFill>
                  <a:srgbClr val="F4EFEA"/>
                </a:solidFill>
                <a:latin typeface="Instrument Serif"/>
              </a:rPr>
              <a:t>Final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0296" y="3403854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90" b="0">
                <a:solidFill>
                  <a:srgbClr val="F4EFEA"/>
                </a:solidFill>
                <a:latin typeface="General Sans"/>
              </a:rPr>
              <a:t>Repo due 10 Dec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54680" y="3897630"/>
            <a:ext cx="5349240" cy="285751"/>
          </a:xfrm>
          <a:prstGeom prst="roundRect">
            <a:avLst/>
          </a:prstGeom>
          <a:solidFill>
            <a:srgbClr val="E9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91840" y="3975872"/>
            <a:ext cx="621792" cy="1292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40" b="1" dirty="0">
                <a:solidFill>
                  <a:srgbClr val="6D6864"/>
                </a:solidFill>
                <a:latin typeface="General Sans"/>
              </a:rPr>
              <a:t>MIDTERM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9352" y="3975872"/>
            <a:ext cx="4343400" cy="1337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69" b="0" dirty="0">
                <a:solidFill>
                  <a:srgbClr val="2A2A2A"/>
                </a:solidFill>
                <a:latin typeface="General Sans"/>
              </a:rPr>
              <a:t>orchestrator + ENTSO-E load/price + raw schema + DST handling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54680" y="4363973"/>
            <a:ext cx="5349240" cy="285751"/>
          </a:xfrm>
          <a:prstGeom prst="roundRect">
            <a:avLst/>
          </a:prstGeom>
          <a:solidFill>
            <a:srgbClr val="96D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91840" y="4439970"/>
            <a:ext cx="502920" cy="1292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40" b="1" dirty="0">
                <a:solidFill>
                  <a:srgbClr val="2A2A2A"/>
                </a:solidFill>
                <a:latin typeface="General Sans"/>
              </a:rPr>
              <a:t>FINAL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4439970"/>
            <a:ext cx="4526280" cy="1337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9" dirty="0">
                <a:solidFill>
                  <a:srgbClr val="2A2A2A"/>
                </a:solidFill>
                <a:latin typeface="General Sans"/>
              </a:rPr>
              <a:t>Open-</a:t>
            </a:r>
            <a:r>
              <a:rPr sz="869" dirty="0" err="1">
                <a:solidFill>
                  <a:srgbClr val="2A2A2A"/>
                </a:solidFill>
                <a:latin typeface="General Sans"/>
              </a:rPr>
              <a:t>Meteo</a:t>
            </a:r>
            <a:r>
              <a:rPr sz="869" dirty="0">
                <a:solidFill>
                  <a:srgbClr val="2A2A2A"/>
                </a:solidFill>
                <a:latin typeface="General Sans"/>
              </a:rPr>
              <a:t> weather + data quality + cloud pipeline</a:t>
            </a:r>
          </a:p>
        </p:txBody>
      </p:sp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3F7DF85E-D037-F7A3-97A7-8337C8E8D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29768"/>
            <a:ext cx="329184" cy="292608"/>
          </a:xfrm>
          <a:prstGeom prst="rect">
            <a:avLst/>
          </a:prstGeom>
        </p:spPr>
      </p:pic>
      <p:sp>
        <p:nvSpPr>
          <p:cNvPr id="31" name="Text 3">
            <a:extLst>
              <a:ext uri="{FF2B5EF4-FFF2-40B4-BE49-F238E27FC236}">
                <a16:creationId xmlns:a16="http://schemas.microsoft.com/office/drawing/2014/main" id="{EB9A0FA0-4D73-C6DC-4A46-AB75B0452290}"/>
              </a:ext>
            </a:extLst>
          </p:cNvPr>
          <p:cNvSpPr txBox="1"/>
          <p:nvPr/>
        </p:nvSpPr>
        <p:spPr>
          <a:xfrm>
            <a:off x="320040" y="35204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2A2A2A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Ingestion,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A2A2A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Storage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A2A2A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&amp; Plan.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548</Words>
  <Application>Microsoft Macintosh PowerPoint</Application>
  <PresentationFormat>On-screen Show (16:9)</PresentationFormat>
  <Paragraphs>128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General Sans</vt:lpstr>
      <vt:lpstr>Instrument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saftimize - DENG HS26 pitch</dc:title>
  <dc:subject>PptxGenJS Presentation</dc:subject>
  <dc:creator>PptxGenJS</dc:creator>
  <cp:lastModifiedBy>Schlumpf Timo I.BSCAIML.2401</cp:lastModifiedBy>
  <cp:revision>10</cp:revision>
  <dcterms:created xsi:type="dcterms:W3CDTF">2026-10-01T12:02:02Z</dcterms:created>
  <dcterms:modified xsi:type="dcterms:W3CDTF">2026-10-01T12:38:53Z</dcterms:modified>
</cp:coreProperties>
</file>